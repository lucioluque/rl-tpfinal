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Calibri (MS) Bold" charset="1" panose="020F0702030404030204"/>
      <p:regular r:id="rId25"/>
    </p:embeddedFont>
    <p:embeddedFont>
      <p:font typeface="Cambria Bold" charset="1" panose="02040803050406030204"/>
      <p:regular r:id="rId26"/>
    </p:embeddedFont>
    <p:embeddedFont>
      <p:font typeface="Calibri (MS)" charset="1" panose="020F0502020204030204"/>
      <p:regular r:id="rId27"/>
    </p:embeddedFont>
    <p:embeddedFont>
      <p:font typeface="Alice" charset="1" panose="00000500000000000000"/>
      <p:regular r:id="rId29"/>
    </p:embeddedFont>
    <p:embeddedFont>
      <p:font typeface="Cambria" charset="1" panose="02040503050406030204"/>
      <p:regular r:id="rId31"/>
    </p:embeddedFont>
    <p:embeddedFont>
      <p:font typeface="Calibri (MS) Italics" charset="1" panose="020F05020202040A0204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notesMasters/notesMaster1.xml" Type="http://schemas.openxmlformats.org/officeDocument/2006/relationships/notesMaster"/><Relationship Id="rId23" Target="theme/theme2.xml" Type="http://schemas.openxmlformats.org/officeDocument/2006/relationships/theme"/><Relationship Id="rId24" Target="notesSlides/notesSlide1.xml" Type="http://schemas.openxmlformats.org/officeDocument/2006/relationships/notes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notesSlides/notesSlide2.xml" Type="http://schemas.openxmlformats.org/officeDocument/2006/relationships/notes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notesSlides/notesSlide3.xml" Type="http://schemas.openxmlformats.org/officeDocument/2006/relationships/notesSlide"/><Relationship Id="rId31" Target="fonts/font31.fntdata" Type="http://schemas.openxmlformats.org/officeDocument/2006/relationships/font"/><Relationship Id="rId32" Target="notesSlides/notesSlide4.xml" Type="http://schemas.openxmlformats.org/officeDocument/2006/relationships/notesSlide"/><Relationship Id="rId33" Target="notesSlides/notesSlide5.xml" Type="http://schemas.openxmlformats.org/officeDocument/2006/relationships/notesSlide"/><Relationship Id="rId34" Target="fonts/font34.fntdata" Type="http://schemas.openxmlformats.org/officeDocument/2006/relationships/font"/><Relationship Id="rId35" Target="notesSlides/notesSlide6.xml" Type="http://schemas.openxmlformats.org/officeDocument/2006/relationships/notesSlide"/><Relationship Id="rId36" Target="notesSlides/notesSlide7.xml" Type="http://schemas.openxmlformats.org/officeDocument/2006/relationships/notesSlide"/><Relationship Id="rId37" Target="notesSlides/notesSlide8.xml" Type="http://schemas.openxmlformats.org/officeDocument/2006/relationships/notesSlide"/><Relationship Id="rId38" Target="notesSlides/notesSlide9.xml" Type="http://schemas.openxmlformats.org/officeDocument/2006/relationships/notesSlide"/><Relationship Id="rId39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1.xml" Type="http://schemas.openxmlformats.org/officeDocument/2006/relationships/notesSlide"/><Relationship Id="rId41" Target="notesSlides/notesSlide12.xml" Type="http://schemas.openxmlformats.org/officeDocument/2006/relationships/notesSlide"/><Relationship Id="rId42" Target="notesSlides/notesSlide13.xml" Type="http://schemas.openxmlformats.org/officeDocument/2006/relationships/notesSlide"/><Relationship Id="rId43" Target="notesSlides/notesSlide14.xml" Type="http://schemas.openxmlformats.org/officeDocument/2006/relationships/notesSlide"/><Relationship Id="rId44" Target="notesSlides/notesSlide15.xml" Type="http://schemas.openxmlformats.org/officeDocument/2006/relationships/notesSlide"/><Relationship Id="rId45" Target="notesSlides/notesSlide16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Relationship Id="rId5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14.png" Type="http://schemas.openxmlformats.org/officeDocument/2006/relationships/image"/><Relationship Id="rId5" Target="../media/image15.jpeg" Type="http://schemas.openxmlformats.org/officeDocument/2006/relationships/image"/><Relationship Id="rId6" Target="../media/image1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21.png" Type="http://schemas.openxmlformats.org/officeDocument/2006/relationships/image"/><Relationship Id="rId7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png" Type="http://schemas.openxmlformats.org/officeDocument/2006/relationships/image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Relationship Id="rId8" Target="../media/image26.pn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VAHOqGBu1C0.mp4" Type="http://schemas.microsoft.com/office/2007/relationships/media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Relationship Id="rId4" Target="../media/image29.png" Type="http://schemas.openxmlformats.org/officeDocument/2006/relationships/image"/><Relationship Id="rId5" Target="../media/image30.jpeg" Type="http://schemas.openxmlformats.org/officeDocument/2006/relationships/image"/><Relationship Id="rId6" Target="../media/VAHOqMsdCoQ.mp4" Type="http://schemas.openxmlformats.org/officeDocument/2006/relationships/video"/><Relationship Id="rId7" Target="../media/VAHOqMsdCoQ.mp4" Type="http://schemas.microsoft.com/office/2007/relationships/media"/><Relationship Id="rId8" Target="../media/image31.jpeg" Type="http://schemas.openxmlformats.org/officeDocument/2006/relationships/image"/><Relationship Id="rId9" Target="../media/VAHOqGBu1C0.mp4" Type="http://schemas.openxmlformats.org/officeDocument/2006/relationships/video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Relationship Id="rId4" Target="../media/image32.png" Type="http://schemas.openxmlformats.org/officeDocument/2006/relationships/image"/><Relationship Id="rId5" Target="../media/image33.png" Type="http://schemas.openxmlformats.org/officeDocument/2006/relationships/image"/><Relationship Id="rId6" Target="../media/image34.png" Type="http://schemas.openxmlformats.org/officeDocument/2006/relationships/image"/><Relationship Id="rId7" Target="../media/image35.png" Type="http://schemas.openxmlformats.org/officeDocument/2006/relationships/image"/><Relationship Id="rId8" Target="../media/image36.png" Type="http://schemas.openxmlformats.org/officeDocument/2006/relationships/image"/><Relationship Id="rId9" Target="../media/image3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Relationship Id="rId4" Target="../media/image3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Relationship Id="rId4" Target="../media/image39.png" Type="http://schemas.openxmlformats.org/officeDocument/2006/relationships/image"/><Relationship Id="rId5" Target="../media/image40.png" Type="http://schemas.openxmlformats.org/officeDocument/2006/relationships/image"/><Relationship Id="rId6" Target="../media/image41.png" Type="http://schemas.openxmlformats.org/officeDocument/2006/relationships/image"/><Relationship Id="rId7" Target="../media/image42.jpeg" Type="http://schemas.openxmlformats.org/officeDocument/2006/relationships/image"/><Relationship Id="rId8" Target="../media/image43.jpeg" Type="http://schemas.openxmlformats.org/officeDocument/2006/relationships/image"/><Relationship Id="rId9" Target="../media/image44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Relationship Id="rId4" Target="../media/image45.png" Type="http://schemas.openxmlformats.org/officeDocument/2006/relationships/image"/><Relationship Id="rId5" Target="../media/image46.png" Type="http://schemas.openxmlformats.org/officeDocument/2006/relationships/image"/><Relationship Id="rId6" Target="../media/image47.png" Type="http://schemas.openxmlformats.org/officeDocument/2006/relationships/image"/><Relationship Id="rId7" Target="../media/image4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5.svg" Type="http://schemas.openxmlformats.org/officeDocument/2006/relationships/image"/><Relationship Id="rId2" Target="../notesSlides/notesSlide15.xml" Type="http://schemas.openxmlformats.org/officeDocument/2006/relationships/notesSlide"/><Relationship Id="rId3" Target="../media/image1.jpeg" Type="http://schemas.openxmlformats.org/officeDocument/2006/relationships/image"/><Relationship Id="rId4" Target="../media/image49.png" Type="http://schemas.openxmlformats.org/officeDocument/2006/relationships/image"/><Relationship Id="rId5" Target="../media/image50.png" Type="http://schemas.openxmlformats.org/officeDocument/2006/relationships/image"/><Relationship Id="rId6" Target="../media/image51.png" Type="http://schemas.openxmlformats.org/officeDocument/2006/relationships/image"/><Relationship Id="rId7" Target="../media/image52.png" Type="http://schemas.openxmlformats.org/officeDocument/2006/relationships/image"/><Relationship Id="rId8" Target="../media/image53.png" Type="http://schemas.openxmlformats.org/officeDocument/2006/relationships/image"/><Relationship Id="rId9" Target="../media/image5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3.png" Type="http://schemas.openxmlformats.org/officeDocument/2006/relationships/image"/><Relationship Id="rId11" Target="../media/image58.png" Type="http://schemas.openxmlformats.org/officeDocument/2006/relationships/image"/><Relationship Id="rId12" Target="../media/image59.png" Type="http://schemas.openxmlformats.org/officeDocument/2006/relationships/image"/><Relationship Id="rId13" Target="../media/image60.png" Type="http://schemas.openxmlformats.org/officeDocument/2006/relationships/image"/><Relationship Id="rId14" Target="../media/image51.png" Type="http://schemas.openxmlformats.org/officeDocument/2006/relationships/image"/><Relationship Id="rId15" Target="../media/image61.png" Type="http://schemas.openxmlformats.org/officeDocument/2006/relationships/image"/><Relationship Id="rId2" Target="../notesSlides/notesSlide16.xml" Type="http://schemas.openxmlformats.org/officeDocument/2006/relationships/notesSlide"/><Relationship Id="rId3" Target="../media/image1.jpeg" Type="http://schemas.openxmlformats.org/officeDocument/2006/relationships/image"/><Relationship Id="rId4" Target="../media/image56.png" Type="http://schemas.openxmlformats.org/officeDocument/2006/relationships/image"/><Relationship Id="rId5" Target="../media/image2.png" Type="http://schemas.openxmlformats.org/officeDocument/2006/relationships/image"/><Relationship Id="rId6" Target="../media/image49.png" Type="http://schemas.openxmlformats.org/officeDocument/2006/relationships/image"/><Relationship Id="rId7" Target="../media/image57.png" Type="http://schemas.openxmlformats.org/officeDocument/2006/relationships/image"/><Relationship Id="rId8" Target="../media/image50.png" Type="http://schemas.openxmlformats.org/officeDocument/2006/relationships/image"/><Relationship Id="rId9" Target="../media/image5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14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49780" y="942779"/>
            <a:ext cx="8532495" cy="8532495"/>
            <a:chOff x="0" y="0"/>
            <a:chExt cx="11376660" cy="113766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76660" cy="11376660"/>
            </a:xfrm>
            <a:custGeom>
              <a:avLst/>
              <a:gdLst/>
              <a:ahLst/>
              <a:cxnLst/>
              <a:rect r="r" b="b" t="t" l="l"/>
              <a:pathLst>
                <a:path h="11376660" w="11376660">
                  <a:moveTo>
                    <a:pt x="0" y="5688330"/>
                  </a:moveTo>
                  <a:cubicBezTo>
                    <a:pt x="0" y="2546731"/>
                    <a:pt x="2546731" y="0"/>
                    <a:pt x="5688330" y="0"/>
                  </a:cubicBezTo>
                  <a:cubicBezTo>
                    <a:pt x="8829929" y="0"/>
                    <a:pt x="11376660" y="2546731"/>
                    <a:pt x="11376660" y="5688330"/>
                  </a:cubicBezTo>
                  <a:cubicBezTo>
                    <a:pt x="11376660" y="8829929"/>
                    <a:pt x="8829929" y="11376660"/>
                    <a:pt x="5688330" y="11376660"/>
                  </a:cubicBezTo>
                  <a:cubicBezTo>
                    <a:pt x="2546731" y="11376660"/>
                    <a:pt x="0" y="8829929"/>
                    <a:pt x="0" y="5688330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  <a:ln w="28575" cap="sq">
              <a:solidFill>
                <a:srgbClr val="545A47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1278480" y="1971479"/>
            <a:ext cx="6475095" cy="6475095"/>
            <a:chOff x="0" y="0"/>
            <a:chExt cx="8633460" cy="86334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633460" cy="8633460"/>
            </a:xfrm>
            <a:custGeom>
              <a:avLst/>
              <a:gdLst/>
              <a:ahLst/>
              <a:cxnLst/>
              <a:rect r="r" b="b" t="t" l="l"/>
              <a:pathLst>
                <a:path h="8633460" w="8633460">
                  <a:moveTo>
                    <a:pt x="0" y="4316730"/>
                  </a:moveTo>
                  <a:cubicBezTo>
                    <a:pt x="0" y="1932686"/>
                    <a:pt x="1932686" y="0"/>
                    <a:pt x="4316730" y="0"/>
                  </a:cubicBezTo>
                  <a:cubicBezTo>
                    <a:pt x="6700774" y="0"/>
                    <a:pt x="8633460" y="1932686"/>
                    <a:pt x="8633460" y="4316730"/>
                  </a:cubicBezTo>
                  <a:cubicBezTo>
                    <a:pt x="8633460" y="6700774"/>
                    <a:pt x="6700774" y="8633460"/>
                    <a:pt x="4316730" y="8633460"/>
                  </a:cubicBezTo>
                  <a:cubicBezTo>
                    <a:pt x="1932686" y="8633460"/>
                    <a:pt x="0" y="6700774"/>
                    <a:pt x="0" y="4316730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  <a:ln w="28575" cap="sq">
              <a:solidFill>
                <a:srgbClr val="545A47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3761647" y="4454646"/>
            <a:ext cx="1508760" cy="1508760"/>
            <a:chOff x="0" y="0"/>
            <a:chExt cx="2011680" cy="20116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116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011680">
                  <a:moveTo>
                    <a:pt x="0" y="1005840"/>
                  </a:moveTo>
                  <a:cubicBezTo>
                    <a:pt x="0" y="450342"/>
                    <a:pt x="450342" y="0"/>
                    <a:pt x="1005840" y="0"/>
                  </a:cubicBezTo>
                  <a:cubicBezTo>
                    <a:pt x="1561338" y="0"/>
                    <a:pt x="2011680" y="450342"/>
                    <a:pt x="2011680" y="1005840"/>
                  </a:cubicBezTo>
                  <a:cubicBezTo>
                    <a:pt x="2011680" y="1561338"/>
                    <a:pt x="1561338" y="2011680"/>
                    <a:pt x="1005840" y="2011680"/>
                  </a:cubicBezTo>
                  <a:cubicBezTo>
                    <a:pt x="450342" y="2011680"/>
                    <a:pt x="0" y="1561338"/>
                    <a:pt x="0" y="1005840"/>
                  </a:cubicBezTo>
                  <a:close/>
                </a:path>
              </a:pathLst>
            </a:custGeom>
            <a:solidFill>
              <a:srgbClr val="B98C6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307180" y="3000179"/>
            <a:ext cx="4417695" cy="4417695"/>
            <a:chOff x="0" y="0"/>
            <a:chExt cx="5890260" cy="58902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890260" cy="5890260"/>
            </a:xfrm>
            <a:custGeom>
              <a:avLst/>
              <a:gdLst/>
              <a:ahLst/>
              <a:cxnLst/>
              <a:rect r="r" b="b" t="t" l="l"/>
              <a:pathLst>
                <a:path h="5890260" w="5890260">
                  <a:moveTo>
                    <a:pt x="0" y="2945130"/>
                  </a:moveTo>
                  <a:cubicBezTo>
                    <a:pt x="0" y="1318641"/>
                    <a:pt x="1318641" y="0"/>
                    <a:pt x="2945130" y="0"/>
                  </a:cubicBezTo>
                  <a:cubicBezTo>
                    <a:pt x="4571619" y="0"/>
                    <a:pt x="5890260" y="1318641"/>
                    <a:pt x="5890260" y="2945130"/>
                  </a:cubicBezTo>
                  <a:cubicBezTo>
                    <a:pt x="5890260" y="4571619"/>
                    <a:pt x="4571619" y="5890260"/>
                    <a:pt x="2945130" y="5890260"/>
                  </a:cubicBezTo>
                  <a:cubicBezTo>
                    <a:pt x="1318641" y="5890260"/>
                    <a:pt x="0" y="4571619"/>
                    <a:pt x="0" y="2945130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  <a:ln w="28575" cap="sq">
              <a:solidFill>
                <a:srgbClr val="545A47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34440" y="2194560"/>
            <a:ext cx="12344400" cy="548640"/>
            <a:chOff x="0" y="0"/>
            <a:chExt cx="1645920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45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64592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300">
                  <a:solidFill>
                    <a:srgbClr val="96BBB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I404 · APRENDIZAJE REFORZADO · OTOÑO 2026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65860" y="2880360"/>
            <a:ext cx="12618720" cy="2880360"/>
            <a:chOff x="0" y="0"/>
            <a:chExt cx="16824960" cy="38404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824961" cy="3840480"/>
            </a:xfrm>
            <a:custGeom>
              <a:avLst/>
              <a:gdLst/>
              <a:ahLst/>
              <a:cxnLst/>
              <a:rect r="r" b="b" t="t" l="l"/>
              <a:pathLst>
                <a:path h="3840480" w="16824961">
                  <a:moveTo>
                    <a:pt x="0" y="0"/>
                  </a:moveTo>
                  <a:lnTo>
                    <a:pt x="16824961" y="0"/>
                  </a:lnTo>
                  <a:lnTo>
                    <a:pt x="16824961" y="3840480"/>
                  </a:lnTo>
                  <a:lnTo>
                    <a:pt x="0" y="3840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363" r="0" b="-3536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76200"/>
              <a:ext cx="16824960" cy="3916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164"/>
                </a:lnSpc>
              </a:pPr>
              <a:r>
                <a:rPr lang="en-US" sz="63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Aterrizaje autónomo de drones</a:t>
              </a:r>
            </a:p>
            <a:p>
              <a:pPr algn="l">
                <a:lnSpc>
                  <a:spcPts val="8164"/>
                </a:lnSpc>
              </a:pPr>
              <a:r>
                <a:rPr lang="en-US" sz="63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en plataformas móviles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24915" y="6650355"/>
            <a:ext cx="4682490" cy="19050"/>
            <a:chOff x="0" y="0"/>
            <a:chExt cx="6243320" cy="25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243320" cy="25400"/>
            </a:xfrm>
            <a:custGeom>
              <a:avLst/>
              <a:gdLst/>
              <a:ahLst/>
              <a:cxnLst/>
              <a:rect r="r" b="b" t="t" l="l"/>
              <a:pathLst>
                <a:path h="25400" w="6243320">
                  <a:moveTo>
                    <a:pt x="0" y="0"/>
                  </a:moveTo>
                  <a:lnTo>
                    <a:pt x="6243320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4739422" r="0" b="-4739422"/>
              </a:stretch>
            </a:blipFill>
            <a:ln w="19050" cap="sq">
              <a:solidFill>
                <a:srgbClr val="545A47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234440" y="6934200"/>
            <a:ext cx="5486400" cy="1097280"/>
            <a:chOff x="0" y="0"/>
            <a:chExt cx="7315200" cy="14630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315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731520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Lucio Luque Materazzi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AA48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lluquematerazzi@udesa.edu.ar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995160" y="6934200"/>
            <a:ext cx="5486400" cy="1097280"/>
            <a:chOff x="0" y="0"/>
            <a:chExt cx="7315200" cy="14630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315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731520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Teo Manuel Kaucher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AA48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tkaucher@udesa.edu.ar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34440" y="8442960"/>
            <a:ext cx="8229600" cy="548640"/>
            <a:chOff x="0" y="0"/>
            <a:chExt cx="10972800" cy="731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109728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838C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Ingeniería en Inteligencia Artificial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3113850" y="3737416"/>
            <a:ext cx="2709104" cy="2709104"/>
            <a:chOff x="0" y="0"/>
            <a:chExt cx="2011680" cy="20116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0116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011680">
                  <a:moveTo>
                    <a:pt x="0" y="1005840"/>
                  </a:moveTo>
                  <a:cubicBezTo>
                    <a:pt x="0" y="450342"/>
                    <a:pt x="450342" y="0"/>
                    <a:pt x="1005840" y="0"/>
                  </a:cubicBezTo>
                  <a:cubicBezTo>
                    <a:pt x="1561338" y="0"/>
                    <a:pt x="2011680" y="450342"/>
                    <a:pt x="2011680" y="1005840"/>
                  </a:cubicBezTo>
                  <a:cubicBezTo>
                    <a:pt x="2011680" y="1561338"/>
                    <a:pt x="1561338" y="2011680"/>
                    <a:pt x="1005840" y="2011680"/>
                  </a:cubicBezTo>
                  <a:cubicBezTo>
                    <a:pt x="450342" y="2011680"/>
                    <a:pt x="0" y="1561338"/>
                    <a:pt x="0" y="100584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14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92516" y="882446"/>
            <a:ext cx="9047126" cy="9047126"/>
            <a:chOff x="0" y="0"/>
            <a:chExt cx="2011680" cy="20116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011680">
                  <a:moveTo>
                    <a:pt x="0" y="1005840"/>
                  </a:moveTo>
                  <a:cubicBezTo>
                    <a:pt x="0" y="450342"/>
                    <a:pt x="450342" y="0"/>
                    <a:pt x="1005840" y="0"/>
                  </a:cubicBezTo>
                  <a:cubicBezTo>
                    <a:pt x="1561338" y="0"/>
                    <a:pt x="2011680" y="450342"/>
                    <a:pt x="2011680" y="1005840"/>
                  </a:cubicBezTo>
                  <a:cubicBezTo>
                    <a:pt x="2011680" y="1561338"/>
                    <a:pt x="1561338" y="2011680"/>
                    <a:pt x="1005840" y="2011680"/>
                  </a:cubicBezTo>
                  <a:cubicBezTo>
                    <a:pt x="450342" y="2011680"/>
                    <a:pt x="0" y="1561338"/>
                    <a:pt x="0" y="1005840"/>
                  </a:cubicBezTo>
                  <a:close/>
                </a:path>
              </a:pathLst>
            </a:custGeom>
            <a:solidFill>
              <a:srgbClr val="B98C64"/>
            </a:solidFill>
            <a:ln w="590550" cap="sq">
              <a:solidFill>
                <a:srgbClr val="414535"/>
              </a:solidFill>
              <a:prstDash val="dash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524083"/>
            <a:ext cx="7065095" cy="3527852"/>
            <a:chOff x="0" y="0"/>
            <a:chExt cx="9420127" cy="47038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420127" cy="4703802"/>
            </a:xfrm>
            <a:custGeom>
              <a:avLst/>
              <a:gdLst/>
              <a:ahLst/>
              <a:cxnLst/>
              <a:rect r="r" b="b" t="t" l="l"/>
              <a:pathLst>
                <a:path h="4703802" w="9420127">
                  <a:moveTo>
                    <a:pt x="0" y="0"/>
                  </a:moveTo>
                  <a:lnTo>
                    <a:pt x="9420127" y="0"/>
                  </a:lnTo>
                  <a:lnTo>
                    <a:pt x="9420127" y="4703802"/>
                  </a:lnTo>
                  <a:lnTo>
                    <a:pt x="0" y="47038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654" r="-131023" b="-764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9420127" cy="4713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Motivación y objetivo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60120" y="3806313"/>
            <a:ext cx="192024" cy="192024"/>
            <a:chOff x="0" y="0"/>
            <a:chExt cx="256032" cy="25603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B98C64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960120" y="7167247"/>
            <a:ext cx="192024" cy="192024"/>
            <a:chOff x="0" y="0"/>
            <a:chExt cx="256032" cy="25603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B98C64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65625" y="6521856"/>
            <a:ext cx="2867072" cy="1482807"/>
            <a:chOff x="0" y="0"/>
            <a:chExt cx="3822762" cy="197707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22763" cy="1977076"/>
            </a:xfrm>
            <a:custGeom>
              <a:avLst/>
              <a:gdLst/>
              <a:ahLst/>
              <a:cxnLst/>
              <a:rect r="r" b="b" t="t" l="l"/>
              <a:pathLst>
                <a:path h="1977076" w="3822763">
                  <a:moveTo>
                    <a:pt x="0" y="0"/>
                  </a:moveTo>
                  <a:lnTo>
                    <a:pt x="3822763" y="0"/>
                  </a:lnTo>
                  <a:lnTo>
                    <a:pt x="3822763" y="1977076"/>
                  </a:lnTo>
                  <a:lnTo>
                    <a:pt x="0" y="19770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725" r="-153550" b="-1032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3822762" cy="19866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 futuro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71600" y="7430832"/>
            <a:ext cx="7269480" cy="822960"/>
            <a:chOff x="0" y="0"/>
            <a:chExt cx="9692640" cy="10972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692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117" r="0" b="-12211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969264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27"/>
                </a:lnSpc>
              </a:pPr>
              <a:r>
                <a:rPr lang="en-US" sz="1824">
                  <a:solidFill>
                    <a:srgbClr val="AEB79E"/>
                  </a:solidFill>
                  <a:latin typeface="Alice"/>
                  <a:ea typeface="Alice"/>
                  <a:cs typeface="Alice"/>
                  <a:sym typeface="Alice"/>
                </a:rPr>
                <a:t>T</a:t>
              </a:r>
              <a:r>
                <a:rPr lang="en-US" sz="1824">
                  <a:solidFill>
                    <a:srgbClr val="AEB79E"/>
                  </a:solidFill>
                  <a:latin typeface="Alice"/>
                  <a:ea typeface="Alice"/>
                  <a:cs typeface="Alice"/>
                  <a:sym typeface="Alice"/>
                </a:rPr>
                <a:t>ransferir la política a un dron físico (sim-to-real) y, más adelante, a una balsa en movimiento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359999">
            <a:off x="11704600" y="5702598"/>
            <a:ext cx="1559534" cy="2020516"/>
          </a:xfrm>
          <a:custGeom>
            <a:avLst/>
            <a:gdLst/>
            <a:ahLst/>
            <a:cxnLst/>
            <a:rect r="r" b="b" t="t" l="l"/>
            <a:pathLst>
              <a:path h="2020516" w="1559534">
                <a:moveTo>
                  <a:pt x="0" y="143175"/>
                </a:moveTo>
                <a:lnTo>
                  <a:pt x="1362217" y="0"/>
                </a:lnTo>
                <a:lnTo>
                  <a:pt x="1559533" y="1877342"/>
                </a:lnTo>
                <a:lnTo>
                  <a:pt x="197316" y="2020516"/>
                </a:lnTo>
                <a:lnTo>
                  <a:pt x="0" y="143175"/>
                </a:lnTo>
                <a:close/>
              </a:path>
            </a:pathLst>
          </a:custGeom>
          <a:blipFill>
            <a:blip r:embed="rId4">
              <a:alphaModFix amt="60000"/>
            </a:blip>
            <a:stretch>
              <a:fillRect l="-14438" t="-36506" r="-106130" b="-33739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4859515" y="6604751"/>
            <a:ext cx="1398105" cy="31631"/>
            <a:chOff x="0" y="0"/>
            <a:chExt cx="1684020" cy="381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84020" cy="38100"/>
            </a:xfrm>
            <a:custGeom>
              <a:avLst/>
              <a:gdLst/>
              <a:ahLst/>
              <a:cxnLst/>
              <a:rect r="r" b="b" t="t" l="l"/>
              <a:pathLst>
                <a:path h="38100" w="1684020">
                  <a:moveTo>
                    <a:pt x="0" y="0"/>
                  </a:moveTo>
                  <a:lnTo>
                    <a:pt x="1684020" y="381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811238" r="0" b="-811238"/>
              </a:stretch>
            </a:blipFill>
            <a:ln w="28575" cap="sq">
              <a:solidFill>
                <a:srgbClr val="9AA48D"/>
              </a:solidFill>
              <a:prstDash val="solid"/>
              <a:miter/>
            </a:ln>
          </p:spPr>
        </p:sp>
      </p:grpSp>
      <p:sp>
        <p:nvSpPr>
          <p:cNvPr name="Freeform 20" id="20"/>
          <p:cNvSpPr/>
          <p:nvPr/>
        </p:nvSpPr>
        <p:spPr>
          <a:xfrm flipH="false" flipV="false" rot="359999">
            <a:off x="13030305" y="5308789"/>
            <a:ext cx="2282807" cy="2957582"/>
          </a:xfrm>
          <a:custGeom>
            <a:avLst/>
            <a:gdLst/>
            <a:ahLst/>
            <a:cxnLst/>
            <a:rect r="r" b="b" t="t" l="l"/>
            <a:pathLst>
              <a:path h="2957582" w="2282807">
                <a:moveTo>
                  <a:pt x="0" y="209576"/>
                </a:moveTo>
                <a:lnTo>
                  <a:pt x="1993980" y="0"/>
                </a:lnTo>
                <a:lnTo>
                  <a:pt x="2282807" y="2748007"/>
                </a:lnTo>
                <a:lnTo>
                  <a:pt x="288827" y="2957582"/>
                </a:lnTo>
                <a:lnTo>
                  <a:pt x="0" y="209576"/>
                </a:lnTo>
                <a:close/>
              </a:path>
            </a:pathLst>
          </a:custGeom>
          <a:blipFill>
            <a:blip r:embed="rId4">
              <a:alphaModFix amt="80000"/>
            </a:blip>
            <a:stretch>
              <a:fillRect l="-14438" t="-36506" r="-106130" b="-33739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8641080" y="6088528"/>
            <a:ext cx="1398105" cy="31631"/>
            <a:chOff x="0" y="0"/>
            <a:chExt cx="1684020" cy="381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684020" cy="38100"/>
            </a:xfrm>
            <a:custGeom>
              <a:avLst/>
              <a:gdLst/>
              <a:ahLst/>
              <a:cxnLst/>
              <a:rect r="r" b="b" t="t" l="l"/>
              <a:pathLst>
                <a:path h="38100" w="1684020">
                  <a:moveTo>
                    <a:pt x="0" y="0"/>
                  </a:moveTo>
                  <a:lnTo>
                    <a:pt x="1684020" y="381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811238" r="0" b="-811238"/>
              </a:stretch>
            </a:blipFill>
            <a:ln w="28575" cap="sq">
              <a:solidFill>
                <a:srgbClr val="9AA48D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7327423" y="9601200"/>
            <a:ext cx="548640" cy="411480"/>
            <a:chOff x="0" y="0"/>
            <a:chExt cx="731520" cy="5486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8A9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359999">
            <a:off x="14579123" y="5482053"/>
            <a:ext cx="3356995" cy="4349288"/>
          </a:xfrm>
          <a:custGeom>
            <a:avLst/>
            <a:gdLst/>
            <a:ahLst/>
            <a:cxnLst/>
            <a:rect r="r" b="b" t="t" l="l"/>
            <a:pathLst>
              <a:path h="4349288" w="3356995">
                <a:moveTo>
                  <a:pt x="0" y="308193"/>
                </a:moveTo>
                <a:lnTo>
                  <a:pt x="2932259" y="0"/>
                </a:lnTo>
                <a:lnTo>
                  <a:pt x="3356995" y="4041096"/>
                </a:lnTo>
                <a:lnTo>
                  <a:pt x="424736" y="4349289"/>
                </a:lnTo>
                <a:lnTo>
                  <a:pt x="0" y="308193"/>
                </a:lnTo>
                <a:close/>
              </a:path>
            </a:pathLst>
          </a:custGeom>
          <a:blipFill>
            <a:blip r:embed="rId4"/>
            <a:stretch>
              <a:fillRect l="-14438" t="-36506" r="-106130" b="-33739"/>
            </a:stretch>
          </a:blipFill>
        </p:spPr>
      </p:sp>
      <p:sp>
        <p:nvSpPr>
          <p:cNvPr name="Freeform 27" id="27"/>
          <p:cNvSpPr/>
          <p:nvPr/>
        </p:nvSpPr>
        <p:spPr>
          <a:xfrm>
            <a:off x="13345451" y="1822724"/>
            <a:ext cx="2668318" cy="4281619"/>
          </a:xfrm>
          <a:custGeom>
            <a:avLst/>
            <a:gdLst/>
            <a:ahLst/>
            <a:cxnLst/>
            <a:rect r="r" b="b" t="t" l="l"/>
            <a:pathLst>
              <a:path h="4281619" w="2668318">
                <a:moveTo>
                  <a:pt x="2668318" y="4281619"/>
                </a:moveTo>
                <a:quadBezTo>
                  <a:pt x="-2208995" y="808652"/>
                  <a:pt x="1828739" y="0"/>
                </a:quadBezTo>
              </a:path>
            </a:pathLst>
          </a:custGeom>
          <a:ln cap="flat" w="38100">
            <a:solidFill>
              <a:srgbClr val="93AF85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14971971" y="4948522"/>
            <a:ext cx="2343273" cy="2343273"/>
            <a:chOff x="0" y="0"/>
            <a:chExt cx="2011680" cy="20116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116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011680">
                  <a:moveTo>
                    <a:pt x="0" y="1005840"/>
                  </a:moveTo>
                  <a:cubicBezTo>
                    <a:pt x="0" y="450342"/>
                    <a:pt x="450342" y="0"/>
                    <a:pt x="1005840" y="0"/>
                  </a:cubicBezTo>
                  <a:cubicBezTo>
                    <a:pt x="1561338" y="0"/>
                    <a:pt x="2011680" y="450342"/>
                    <a:pt x="2011680" y="1005840"/>
                  </a:cubicBezTo>
                  <a:cubicBezTo>
                    <a:pt x="2011680" y="1561338"/>
                    <a:pt x="1561338" y="2011680"/>
                    <a:pt x="1005840" y="2011680"/>
                  </a:cubicBezTo>
                  <a:cubicBezTo>
                    <a:pt x="450342" y="2011680"/>
                    <a:pt x="0" y="1561338"/>
                    <a:pt x="0" y="1005840"/>
                  </a:cubicBez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3673590" y="3916845"/>
            <a:ext cx="1884977" cy="1884977"/>
            <a:chOff x="0" y="0"/>
            <a:chExt cx="2011680" cy="20116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0116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011680">
                  <a:moveTo>
                    <a:pt x="0" y="1005840"/>
                  </a:moveTo>
                  <a:cubicBezTo>
                    <a:pt x="0" y="450342"/>
                    <a:pt x="450342" y="0"/>
                    <a:pt x="1005840" y="0"/>
                  </a:cubicBezTo>
                  <a:cubicBezTo>
                    <a:pt x="1561338" y="0"/>
                    <a:pt x="2011680" y="450342"/>
                    <a:pt x="2011680" y="1005840"/>
                  </a:cubicBezTo>
                  <a:cubicBezTo>
                    <a:pt x="2011680" y="1561338"/>
                    <a:pt x="1561338" y="2011680"/>
                    <a:pt x="1005840" y="2011680"/>
                  </a:cubicBezTo>
                  <a:cubicBezTo>
                    <a:pt x="450342" y="2011680"/>
                    <a:pt x="0" y="1561338"/>
                    <a:pt x="0" y="1005840"/>
                  </a:cubicBezTo>
                  <a:close/>
                </a:path>
              </a:pathLst>
            </a:custGeom>
            <a:blipFill>
              <a:blip r:embed="rId5">
                <a:alphaModFix amt="80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741605" y="2520689"/>
            <a:ext cx="1337018" cy="1337018"/>
            <a:chOff x="0" y="0"/>
            <a:chExt cx="2011680" cy="20116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0116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011680">
                  <a:moveTo>
                    <a:pt x="0" y="1005840"/>
                  </a:moveTo>
                  <a:cubicBezTo>
                    <a:pt x="0" y="450342"/>
                    <a:pt x="450342" y="0"/>
                    <a:pt x="1005840" y="0"/>
                  </a:cubicBezTo>
                  <a:cubicBezTo>
                    <a:pt x="1561338" y="0"/>
                    <a:pt x="2011680" y="450342"/>
                    <a:pt x="2011680" y="1005840"/>
                  </a:cubicBezTo>
                  <a:cubicBezTo>
                    <a:pt x="2011680" y="1561338"/>
                    <a:pt x="1561338" y="2011680"/>
                    <a:pt x="1005840" y="2011680"/>
                  </a:cubicBezTo>
                  <a:cubicBezTo>
                    <a:pt x="450342" y="2011680"/>
                    <a:pt x="0" y="1561338"/>
                    <a:pt x="0" y="1005840"/>
                  </a:cubicBezTo>
                  <a:close/>
                </a:path>
              </a:pathLst>
            </a:custGeom>
            <a:blipFill>
              <a:blip r:embed="rId5">
                <a:alphaModFix amt="60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34" id="34"/>
          <p:cNvSpPr/>
          <p:nvPr/>
        </p:nvSpPr>
        <p:spPr>
          <a:xfrm flipH="false" flipV="false" rot="359999">
            <a:off x="10759002" y="6285589"/>
            <a:ext cx="972135" cy="1259488"/>
          </a:xfrm>
          <a:custGeom>
            <a:avLst/>
            <a:gdLst/>
            <a:ahLst/>
            <a:cxnLst/>
            <a:rect r="r" b="b" t="t" l="l"/>
            <a:pathLst>
              <a:path h="1259488" w="972135">
                <a:moveTo>
                  <a:pt x="0" y="89248"/>
                </a:moveTo>
                <a:lnTo>
                  <a:pt x="849137" y="0"/>
                </a:lnTo>
                <a:lnTo>
                  <a:pt x="972134" y="1170240"/>
                </a:lnTo>
                <a:lnTo>
                  <a:pt x="122997" y="1259488"/>
                </a:lnTo>
                <a:lnTo>
                  <a:pt x="0" y="89248"/>
                </a:lnTo>
                <a:close/>
              </a:path>
            </a:pathLst>
          </a:custGeom>
          <a:blipFill>
            <a:blip r:embed="rId4">
              <a:alphaModFix amt="40000"/>
            </a:blip>
            <a:stretch>
              <a:fillRect l="-14438" t="-36506" r="-106130" b="-33739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14696981" y="1285064"/>
            <a:ext cx="954418" cy="1075320"/>
            <a:chOff x="0" y="0"/>
            <a:chExt cx="1785501" cy="20116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785501" cy="2011680"/>
            </a:xfrm>
            <a:custGeom>
              <a:avLst/>
              <a:gdLst/>
              <a:ahLst/>
              <a:cxnLst/>
              <a:rect r="r" b="b" t="t" l="l"/>
              <a:pathLst>
                <a:path h="2011680" w="1785501">
                  <a:moveTo>
                    <a:pt x="0" y="1005840"/>
                  </a:moveTo>
                  <a:cubicBezTo>
                    <a:pt x="0" y="450342"/>
                    <a:pt x="399709" y="0"/>
                    <a:pt x="892750" y="0"/>
                  </a:cubicBezTo>
                  <a:cubicBezTo>
                    <a:pt x="1385792" y="0"/>
                    <a:pt x="1785501" y="450342"/>
                    <a:pt x="1785501" y="1005840"/>
                  </a:cubicBezTo>
                  <a:cubicBezTo>
                    <a:pt x="1785501" y="1561338"/>
                    <a:pt x="1385792" y="2011680"/>
                    <a:pt x="892750" y="2011680"/>
                  </a:cubicBezTo>
                  <a:cubicBezTo>
                    <a:pt x="399709" y="2011680"/>
                    <a:pt x="0" y="1561338"/>
                    <a:pt x="0" y="1005840"/>
                  </a:cubicBezTo>
                  <a:close/>
                </a:path>
              </a:pathLst>
            </a:custGeom>
            <a:blipFill>
              <a:blip r:embed="rId5">
                <a:alphaModFix amt="40000"/>
              </a:blip>
              <a:stretch>
                <a:fillRect l="-6333" t="0" r="-6333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60120" y="5628210"/>
            <a:ext cx="192024" cy="192024"/>
            <a:chOff x="0" y="0"/>
            <a:chExt cx="256032" cy="25603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B98C64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371600" y="4982818"/>
            <a:ext cx="1651895" cy="1482807"/>
            <a:chOff x="0" y="0"/>
            <a:chExt cx="2202526" cy="197707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202526" cy="1977076"/>
            </a:xfrm>
            <a:custGeom>
              <a:avLst/>
              <a:gdLst/>
              <a:ahLst/>
              <a:cxnLst/>
              <a:rect r="r" b="b" t="t" l="l"/>
              <a:pathLst>
                <a:path h="1977076" w="2202526">
                  <a:moveTo>
                    <a:pt x="0" y="0"/>
                  </a:moveTo>
                  <a:lnTo>
                    <a:pt x="2202526" y="0"/>
                  </a:lnTo>
                  <a:lnTo>
                    <a:pt x="2202526" y="1977076"/>
                  </a:lnTo>
                  <a:lnTo>
                    <a:pt x="0" y="19770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725" r="-340069" b="-10325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2202526" cy="19866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Objetivo final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365625" y="3704268"/>
            <a:ext cx="1306711" cy="348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2"/>
              </a:lnSpc>
            </a:pPr>
            <a:r>
              <a:rPr lang="en-US" sz="203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Motivación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371600" y="5925961"/>
            <a:ext cx="7269480" cy="822960"/>
            <a:chOff x="0" y="0"/>
            <a:chExt cx="9692640" cy="10972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692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117" r="0" b="-122117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969264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27"/>
                </a:lnSpc>
              </a:pPr>
              <a:r>
                <a:rPr lang="en-US" sz="1824">
                  <a:solidFill>
                    <a:srgbClr val="AEB79E"/>
                  </a:solidFill>
                  <a:latin typeface="Alice"/>
                  <a:ea typeface="Alice"/>
                  <a:cs typeface="Alice"/>
                  <a:sym typeface="Alice"/>
                </a:rPr>
                <a:t>Que</a:t>
              </a:r>
              <a:r>
                <a:rPr lang="en-US" sz="1824">
                  <a:solidFill>
                    <a:srgbClr val="AEB79E"/>
                  </a:solidFill>
                  <a:latin typeface="Alice"/>
                  <a:ea typeface="Alice"/>
                  <a:cs typeface="Alice"/>
                  <a:sym typeface="Alice"/>
                </a:rPr>
                <a:t> un Crazyflie 2.X aprenda a descender y estacionar de forma estable sobre la base de un TurtleBot4 en movimiento.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371600" y="4166997"/>
            <a:ext cx="7269480" cy="1007078"/>
            <a:chOff x="0" y="0"/>
            <a:chExt cx="9692640" cy="134277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692640" cy="1342771"/>
            </a:xfrm>
            <a:custGeom>
              <a:avLst/>
              <a:gdLst/>
              <a:ahLst/>
              <a:cxnLst/>
              <a:rect r="r" b="b" t="t" l="l"/>
              <a:pathLst>
                <a:path h="1342771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1342771"/>
                  </a:lnTo>
                  <a:lnTo>
                    <a:pt x="0" y="13427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791" r="0" b="-81509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9692640" cy="13903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27"/>
                </a:lnSpc>
              </a:pPr>
              <a:r>
                <a:rPr lang="en-US" sz="1824">
                  <a:solidFill>
                    <a:srgbClr val="AEB79E"/>
                  </a:solidFill>
                  <a:latin typeface="Alice"/>
                  <a:ea typeface="Alice"/>
                  <a:cs typeface="Alice"/>
                  <a:sym typeface="Alice"/>
                </a:rPr>
                <a:t>Por nuestra conexión con la robótica, buscamos un proyecto donde pudiéramos usar los robots del LINAR. Este problema nos pareció interesante y dentro del scope del trabajo final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3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754380"/>
            <a:ext cx="9601200" cy="480060"/>
            <a:chOff x="0" y="0"/>
            <a:chExt cx="128016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01600" cy="640080"/>
            </a:xfrm>
            <a:custGeom>
              <a:avLst/>
              <a:gdLst/>
              <a:ahLst/>
              <a:cxnLst/>
              <a:rect r="r" b="b" t="t" l="l"/>
              <a:pathLst>
                <a:path h="64008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016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3F6E6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MARCO TEÓRICO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303020"/>
            <a:ext cx="16322040" cy="1234440"/>
            <a:chOff x="0" y="0"/>
            <a:chExt cx="2176272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627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7635" r="0" b="-20763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76272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34382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Curriculum Learning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2743200"/>
            <a:ext cx="8092440" cy="2341777"/>
            <a:chOff x="0" y="0"/>
            <a:chExt cx="10789920" cy="31223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89920" cy="3122369"/>
            </a:xfrm>
            <a:custGeom>
              <a:avLst/>
              <a:gdLst/>
              <a:ahLst/>
              <a:cxnLst/>
              <a:rect r="r" b="b" t="t" l="l"/>
              <a:pathLst>
                <a:path h="3122369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3122369"/>
                  </a:lnTo>
                  <a:lnTo>
                    <a:pt x="0" y="31223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548" r="0" b="-1711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10789920" cy="3198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0"/>
                </a:lnSpc>
              </a:pPr>
              <a:r>
                <a:rPr lang="en-US" sz="2100">
                  <a:solidFill>
                    <a:srgbClr val="343829"/>
                  </a:solidFill>
                  <a:latin typeface="Cambria"/>
                  <a:ea typeface="Cambria"/>
                  <a:cs typeface="Cambria"/>
                  <a:sym typeface="Cambria"/>
                </a:rPr>
                <a:t>Estrategia inspirada en el aprendizaje humano: presentar las tareas en orden progresivo de dificultad en vez de exponer al agente directamente al problema completo.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482494" y="7063740"/>
            <a:ext cx="5498145" cy="2502267"/>
            <a:chOff x="0" y="0"/>
            <a:chExt cx="7010219" cy="319042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010219" cy="3190429"/>
            </a:xfrm>
            <a:custGeom>
              <a:avLst/>
              <a:gdLst/>
              <a:ahLst/>
              <a:cxnLst/>
              <a:rect r="r" b="b" t="t" l="l"/>
              <a:pathLst>
                <a:path h="3190429" w="7010219">
                  <a:moveTo>
                    <a:pt x="411235" y="0"/>
                  </a:moveTo>
                  <a:lnTo>
                    <a:pt x="6598985" y="0"/>
                  </a:lnTo>
                  <a:cubicBezTo>
                    <a:pt x="6708051" y="0"/>
                    <a:pt x="6812650" y="43326"/>
                    <a:pt x="6889772" y="120448"/>
                  </a:cubicBezTo>
                  <a:cubicBezTo>
                    <a:pt x="6966893" y="197569"/>
                    <a:pt x="7010219" y="302168"/>
                    <a:pt x="7010219" y="411235"/>
                  </a:cubicBezTo>
                  <a:lnTo>
                    <a:pt x="7010219" y="2779194"/>
                  </a:lnTo>
                  <a:cubicBezTo>
                    <a:pt x="7010219" y="2888261"/>
                    <a:pt x="6966893" y="2992860"/>
                    <a:pt x="6889772" y="3069981"/>
                  </a:cubicBezTo>
                  <a:cubicBezTo>
                    <a:pt x="6812650" y="3147102"/>
                    <a:pt x="6708051" y="3190429"/>
                    <a:pt x="6598985" y="3190429"/>
                  </a:cubicBezTo>
                  <a:lnTo>
                    <a:pt x="411235" y="3190429"/>
                  </a:lnTo>
                  <a:cubicBezTo>
                    <a:pt x="302168" y="3190429"/>
                    <a:pt x="197569" y="3147102"/>
                    <a:pt x="120448" y="3069981"/>
                  </a:cubicBezTo>
                  <a:cubicBezTo>
                    <a:pt x="43326" y="2992860"/>
                    <a:pt x="0" y="2888261"/>
                    <a:pt x="0" y="2779194"/>
                  </a:cubicBezTo>
                  <a:lnTo>
                    <a:pt x="0" y="411235"/>
                  </a:lnTo>
                  <a:cubicBezTo>
                    <a:pt x="0" y="302168"/>
                    <a:pt x="43326" y="197569"/>
                    <a:pt x="120448" y="120448"/>
                  </a:cubicBezTo>
                  <a:cubicBezTo>
                    <a:pt x="197569" y="43326"/>
                    <a:pt x="302168" y="0"/>
                    <a:pt x="411235" y="0"/>
                  </a:cubicBezTo>
                  <a:close/>
                </a:path>
              </a:pathLst>
            </a:custGeom>
            <a:solidFill>
              <a:srgbClr val="414535"/>
            </a:solidFill>
            <a:ln w="38100" cap="rnd">
              <a:solidFill>
                <a:srgbClr val="AECFC9"/>
              </a:solidFill>
              <a:prstDash val="solid"/>
              <a:round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9601200" y="2197065"/>
            <a:ext cx="7680960" cy="1651797"/>
            <a:chOff x="0" y="0"/>
            <a:chExt cx="10241280" cy="220239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241280" cy="2202396"/>
            </a:xfrm>
            <a:custGeom>
              <a:avLst/>
              <a:gdLst/>
              <a:ahLst/>
              <a:cxnLst/>
              <a:rect r="r" b="b" t="t" l="l"/>
              <a:pathLst>
                <a:path h="220239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2202396"/>
                  </a:lnTo>
                  <a:lnTo>
                    <a:pt x="0" y="22023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999" r="0" b="-721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10241280" cy="22214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34382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Curriculum en este trabajo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601200" y="3566160"/>
            <a:ext cx="7680960" cy="1851660"/>
            <a:chOff x="0" y="0"/>
            <a:chExt cx="10241280" cy="24688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241280" cy="2468880"/>
            </a:xfrm>
            <a:custGeom>
              <a:avLst/>
              <a:gdLst/>
              <a:ahLst/>
              <a:cxnLst/>
              <a:rect r="r" b="b" t="t" l="l"/>
              <a:pathLst>
                <a:path h="246888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2468880"/>
                  </a:lnTo>
                  <a:lnTo>
                    <a:pt x="0" y="24688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944100" y="4107942"/>
            <a:ext cx="768096" cy="768096"/>
            <a:chOff x="0" y="0"/>
            <a:chExt cx="1024128" cy="102412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C7DEDC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44100" y="4107942"/>
            <a:ext cx="768096" cy="768096"/>
            <a:chOff x="0" y="0"/>
            <a:chExt cx="1024128" cy="102412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1024128" cy="10336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41453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041380" y="3867912"/>
            <a:ext cx="5897880" cy="548640"/>
            <a:chOff x="0" y="0"/>
            <a:chExt cx="7863840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863840" cy="731520"/>
            </a:xfrm>
            <a:custGeom>
              <a:avLst/>
              <a:gdLst/>
              <a:ahLst/>
              <a:cxnLst/>
              <a:rect r="r" b="b" t="t" l="l"/>
              <a:pathLst>
                <a:path h="731520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464" r="0" b="-159464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78638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34382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Plataforma estática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041380" y="4457700"/>
            <a:ext cx="5897880" cy="685800"/>
            <a:chOff x="0" y="0"/>
            <a:chExt cx="7863840" cy="914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863840" cy="914400"/>
            </a:xfrm>
            <a:custGeom>
              <a:avLst/>
              <a:gdLst/>
              <a:ahLst/>
              <a:cxnLst/>
              <a:rect r="r" b="b" t="t" l="l"/>
              <a:pathLst>
                <a:path h="914400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571" r="0" b="-11757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786384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89"/>
                </a:lnSpc>
              </a:pPr>
              <a:r>
                <a:rPr lang="en-US" sz="1824">
                  <a:solidFill>
                    <a:srgbClr val="74806B"/>
                  </a:solidFill>
                  <a:latin typeface="Alice"/>
                  <a:ea typeface="Alice"/>
                  <a:cs typeface="Alice"/>
                  <a:sym typeface="Alice"/>
                </a:rPr>
                <a:t>Fija</a:t>
              </a:r>
              <a:r>
                <a:rPr lang="en-US" sz="1824">
                  <a:solidFill>
                    <a:srgbClr val="74806B"/>
                  </a:solidFill>
                  <a:latin typeface="Alice"/>
                  <a:ea typeface="Alice"/>
                  <a:cs typeface="Alice"/>
                  <a:sym typeface="Alice"/>
                </a:rPr>
                <a:t>, sin movimiento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313860" y="5430964"/>
            <a:ext cx="28575" cy="385191"/>
            <a:chOff x="0" y="0"/>
            <a:chExt cx="38100" cy="51358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8100" cy="513588"/>
            </a:xfrm>
            <a:custGeom>
              <a:avLst/>
              <a:gdLst/>
              <a:ahLst/>
              <a:cxnLst/>
              <a:rect r="r" b="b" t="t" l="l"/>
              <a:pathLst>
                <a:path h="513588" w="38100">
                  <a:moveTo>
                    <a:pt x="0" y="0"/>
                  </a:moveTo>
                  <a:lnTo>
                    <a:pt x="38100" y="513588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1679532" t="0" r="-1679532" b="0"/>
              </a:stretch>
            </a:blipFill>
            <a:ln w="28575" cap="sq">
              <a:solidFill>
                <a:srgbClr val="B7B69A"/>
              </a:solidFill>
              <a:prstDash val="dash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9601200" y="5829300"/>
            <a:ext cx="7680960" cy="1851660"/>
            <a:chOff x="0" y="0"/>
            <a:chExt cx="10241280" cy="24688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241280" cy="2468880"/>
            </a:xfrm>
            <a:custGeom>
              <a:avLst/>
              <a:gdLst/>
              <a:ahLst/>
              <a:cxnLst/>
              <a:rect r="r" b="b" t="t" l="l"/>
              <a:pathLst>
                <a:path h="246888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2468880"/>
                  </a:lnTo>
                  <a:lnTo>
                    <a:pt x="0" y="24688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944100" y="6371082"/>
            <a:ext cx="768096" cy="768096"/>
            <a:chOff x="0" y="0"/>
            <a:chExt cx="1024128" cy="102412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96BBB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944100" y="6371082"/>
            <a:ext cx="768096" cy="768096"/>
            <a:chOff x="0" y="0"/>
            <a:chExt cx="1024128" cy="102412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024128" cy="10336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41453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041380" y="6131052"/>
            <a:ext cx="5897880" cy="548640"/>
            <a:chOff x="0" y="0"/>
            <a:chExt cx="7863840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863840" cy="731520"/>
            </a:xfrm>
            <a:custGeom>
              <a:avLst/>
              <a:gdLst/>
              <a:ahLst/>
              <a:cxnLst/>
              <a:rect r="r" b="b" t="t" l="l"/>
              <a:pathLst>
                <a:path h="731520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464" r="0" b="-159464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78638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34382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Movimiento lineal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1041380" y="6720840"/>
            <a:ext cx="5897880" cy="685800"/>
            <a:chOff x="0" y="0"/>
            <a:chExt cx="7863840" cy="9144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863840" cy="914400"/>
            </a:xfrm>
            <a:custGeom>
              <a:avLst/>
              <a:gdLst/>
              <a:ahLst/>
              <a:cxnLst/>
              <a:rect r="r" b="b" t="t" l="l"/>
              <a:pathLst>
                <a:path h="914400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571" r="0" b="-117571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786384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89"/>
                </a:lnSpc>
              </a:pPr>
              <a:r>
                <a:rPr lang="en-US" sz="1824">
                  <a:solidFill>
                    <a:srgbClr val="74806B"/>
                  </a:solidFill>
                  <a:latin typeface="Alice"/>
                  <a:ea typeface="Alice"/>
                  <a:cs typeface="Alice"/>
                  <a:sym typeface="Alice"/>
                </a:rPr>
                <a:t>Velocidad lineal constante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313860" y="7694104"/>
            <a:ext cx="28575" cy="385191"/>
            <a:chOff x="0" y="0"/>
            <a:chExt cx="38100" cy="51358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8100" cy="513588"/>
            </a:xfrm>
            <a:custGeom>
              <a:avLst/>
              <a:gdLst/>
              <a:ahLst/>
              <a:cxnLst/>
              <a:rect r="r" b="b" t="t" l="l"/>
              <a:pathLst>
                <a:path h="513588" w="38100">
                  <a:moveTo>
                    <a:pt x="0" y="0"/>
                  </a:moveTo>
                  <a:lnTo>
                    <a:pt x="38100" y="513588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1679532" t="0" r="-1679532" b="0"/>
              </a:stretch>
            </a:blipFill>
            <a:ln w="28575" cap="sq">
              <a:solidFill>
                <a:srgbClr val="B7B69A"/>
              </a:solidFill>
              <a:prstDash val="dash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9601200" y="8092440"/>
            <a:ext cx="7680960" cy="1851660"/>
            <a:chOff x="0" y="0"/>
            <a:chExt cx="10241280" cy="24688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241280" cy="2468880"/>
            </a:xfrm>
            <a:custGeom>
              <a:avLst/>
              <a:gdLst/>
              <a:ahLst/>
              <a:cxnLst/>
              <a:rect r="r" b="b" t="t" l="l"/>
              <a:pathLst>
                <a:path h="246888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2468880"/>
                  </a:lnTo>
                  <a:lnTo>
                    <a:pt x="0" y="24688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9944100" y="8634222"/>
            <a:ext cx="768096" cy="768096"/>
            <a:chOff x="0" y="0"/>
            <a:chExt cx="1024128" cy="102412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618985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944100" y="8634222"/>
            <a:ext cx="768096" cy="768096"/>
            <a:chOff x="0" y="0"/>
            <a:chExt cx="1024128" cy="102412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1024128" cy="10336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41453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1041380" y="8394192"/>
            <a:ext cx="5897880" cy="548640"/>
            <a:chOff x="0" y="0"/>
            <a:chExt cx="7863840" cy="7315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863840" cy="731520"/>
            </a:xfrm>
            <a:custGeom>
              <a:avLst/>
              <a:gdLst/>
              <a:ahLst/>
              <a:cxnLst/>
              <a:rect r="r" b="b" t="t" l="l"/>
              <a:pathLst>
                <a:path h="731520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464" r="0" b="-159464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78638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34382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Cinemática TurtleBot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1041380" y="8983980"/>
            <a:ext cx="5897880" cy="685800"/>
            <a:chOff x="0" y="0"/>
            <a:chExt cx="7863840" cy="9144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7863840" cy="914400"/>
            </a:xfrm>
            <a:custGeom>
              <a:avLst/>
              <a:gdLst/>
              <a:ahLst/>
              <a:cxnLst/>
              <a:rect r="r" b="b" t="t" l="l"/>
              <a:pathLst>
                <a:path h="914400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571" r="0" b="-117571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786384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89"/>
                </a:lnSpc>
              </a:pPr>
              <a:r>
                <a:rPr lang="en-US" sz="1824">
                  <a:solidFill>
                    <a:srgbClr val="74806B"/>
                  </a:solidFill>
                  <a:latin typeface="Alice"/>
                  <a:ea typeface="Alice"/>
                  <a:cs typeface="Alice"/>
                  <a:sym typeface="Alice"/>
                </a:rPr>
                <a:t>Velocidad lineal + angular, ruido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7327423" y="9601200"/>
            <a:ext cx="548640" cy="411480"/>
            <a:chOff x="0" y="0"/>
            <a:chExt cx="731520" cy="5486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A9A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60120" y="4533138"/>
            <a:ext cx="8092440" cy="2606040"/>
            <a:chOff x="0" y="0"/>
            <a:chExt cx="10789920" cy="34747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789920" cy="3474720"/>
            </a:xfrm>
            <a:custGeom>
              <a:avLst/>
              <a:gdLst/>
              <a:ahLst/>
              <a:cxnLst/>
              <a:rect r="r" b="b" t="t" l="l"/>
              <a:pathLst>
                <a:path h="3474720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3474720"/>
                  </a:lnTo>
                  <a:lnTo>
                    <a:pt x="0" y="3474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06" r="0" b="-10506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76200"/>
              <a:ext cx="10789920" cy="3550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0"/>
                </a:lnSpc>
              </a:pPr>
              <a:r>
                <a:rPr lang="en-US" sz="2100">
                  <a:solidFill>
                    <a:srgbClr val="343829"/>
                  </a:solidFill>
                  <a:latin typeface="Cambria"/>
                  <a:ea typeface="Cambria"/>
                  <a:cs typeface="Cambria"/>
                  <a:sym typeface="Cambria"/>
                </a:rPr>
                <a:t>En RL, aprender directamente sobre la tarea final puede ser ineficiente. Esta metodología descompone el entrenamiento en tareas T1, T2, …, Tn de dificultad creciente.</a:t>
              </a:r>
            </a:p>
          </p:txBody>
        </p:sp>
      </p:grpSp>
      <p:sp>
        <p:nvSpPr>
          <p:cNvPr name="TextBox 65" id="65"/>
          <p:cNvSpPr txBox="true"/>
          <p:nvPr/>
        </p:nvSpPr>
        <p:spPr>
          <a:xfrm rot="0">
            <a:off x="2904385" y="7387590"/>
            <a:ext cx="4654363" cy="1771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4"/>
              </a:lnSpc>
            </a:pPr>
            <a:r>
              <a:rPr lang="en-US" sz="2937" spc="185">
                <a:solidFill>
                  <a:srgbClr val="96BBBB"/>
                </a:solidFill>
                <a:latin typeface="Cambria"/>
                <a:ea typeface="Cambria"/>
                <a:cs typeface="Cambria"/>
                <a:sym typeface="Cambria"/>
              </a:rPr>
              <a:t>Definir pesos iniciales θ</a:t>
            </a:r>
          </a:p>
          <a:p>
            <a:pPr algn="l">
              <a:lnSpc>
                <a:spcPts val="3524"/>
              </a:lnSpc>
            </a:pPr>
            <a:r>
              <a:rPr lang="en-US" sz="2937" spc="185">
                <a:solidFill>
                  <a:srgbClr val="96BBBB"/>
                </a:solidFill>
                <a:latin typeface="Cambria"/>
                <a:ea typeface="Cambria"/>
                <a:cs typeface="Cambria"/>
                <a:sym typeface="Cambria"/>
              </a:rPr>
              <a:t>Para cada tarea t:</a:t>
            </a:r>
          </a:p>
          <a:p>
            <a:pPr algn="l">
              <a:lnSpc>
                <a:spcPts val="3524"/>
              </a:lnSpc>
            </a:pPr>
            <a:r>
              <a:rPr lang="en-US" sz="2937" spc="185">
                <a:solidFill>
                  <a:srgbClr val="96BBBB"/>
                </a:solidFill>
                <a:latin typeface="Cambria"/>
                <a:ea typeface="Cambria"/>
                <a:cs typeface="Cambria"/>
                <a:sym typeface="Cambria"/>
              </a:rPr>
              <a:t>     θ´ = train(θ,t)</a:t>
            </a:r>
          </a:p>
          <a:p>
            <a:pPr algn="l">
              <a:lnSpc>
                <a:spcPts val="3524"/>
              </a:lnSpc>
            </a:pPr>
            <a:r>
              <a:rPr lang="en-US" sz="2937" spc="185">
                <a:solidFill>
                  <a:srgbClr val="96BBBB"/>
                </a:solidFill>
                <a:latin typeface="Cambria"/>
                <a:ea typeface="Cambria"/>
                <a:cs typeface="Cambria"/>
                <a:sym typeface="Cambria"/>
              </a:rPr>
              <a:t>     θ = θ´</a:t>
            </a:r>
          </a:p>
        </p:txBody>
      </p:sp>
      <p:sp>
        <p:nvSpPr>
          <p:cNvPr name="Freeform 66" id="6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14497998" y="-28894"/>
            <a:ext cx="3790002" cy="2526668"/>
          </a:xfrm>
          <a:custGeom>
            <a:avLst/>
            <a:gdLst/>
            <a:ahLst/>
            <a:cxnLst/>
            <a:rect r="r" b="b" t="t" l="l"/>
            <a:pathLst>
              <a:path h="2526668" w="3790002">
                <a:moveTo>
                  <a:pt x="0" y="0"/>
                </a:moveTo>
                <a:lnTo>
                  <a:pt x="3790002" y="0"/>
                </a:lnTo>
                <a:lnTo>
                  <a:pt x="3790002" y="2526668"/>
                </a:lnTo>
                <a:lnTo>
                  <a:pt x="0" y="25266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3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754380"/>
            <a:ext cx="9601200" cy="480060"/>
            <a:chOff x="0" y="0"/>
            <a:chExt cx="128016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01600" cy="640080"/>
            </a:xfrm>
            <a:custGeom>
              <a:avLst/>
              <a:gdLst/>
              <a:ahLst/>
              <a:cxnLst/>
              <a:rect r="r" b="b" t="t" l="l"/>
              <a:pathLst>
                <a:path h="64008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016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3F6E6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MARCO TEÓRICO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303020"/>
            <a:ext cx="16322040" cy="1234440"/>
            <a:chOff x="0" y="0"/>
            <a:chExt cx="2176272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627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7635" r="0" b="-20763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76272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34382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Proximal Policy Optimization (PPO)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2623415"/>
            <a:ext cx="16322040" cy="2341777"/>
            <a:chOff x="0" y="0"/>
            <a:chExt cx="21762720" cy="31223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762720" cy="3122369"/>
            </a:xfrm>
            <a:custGeom>
              <a:avLst/>
              <a:gdLst/>
              <a:ahLst/>
              <a:cxnLst/>
              <a:rect r="r" b="b" t="t" l="l"/>
              <a:pathLst>
                <a:path h="3122369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3122369"/>
                  </a:lnTo>
                  <a:lnTo>
                    <a:pt x="0" y="31223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738" r="0" b="-7388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21762720" cy="3198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50"/>
                </a:lnSpc>
              </a:pPr>
              <a:r>
                <a:rPr lang="en-US" sz="2100">
                  <a:solidFill>
                    <a:srgbClr val="343829"/>
                  </a:solidFill>
                  <a:latin typeface="Cambria"/>
                  <a:ea typeface="Cambria"/>
                  <a:cs typeface="Cambria"/>
                  <a:sym typeface="Cambria"/>
                </a:rPr>
                <a:t>Algoritmo de policy gradient de la familia actor-critic, propuesto como alternativa más simple y estable a TRPO. Actualiza la política πθ maximizando un objetivo que penaliza los cambios que se alejan demasiado de la política anterior π</a:t>
              </a:r>
              <a:r>
                <a:rPr lang="en-US" sz="2100">
                  <a:solidFill>
                    <a:srgbClr val="343829"/>
                  </a:solidFill>
                  <a:latin typeface="Cambria"/>
                  <a:ea typeface="Cambria"/>
                  <a:cs typeface="Cambria"/>
                  <a:sym typeface="Cambria"/>
                </a:rPr>
                <a:t>θ_old</a:t>
              </a:r>
              <a:r>
                <a:rPr lang="en-US" sz="2100">
                  <a:solidFill>
                    <a:srgbClr val="343829"/>
                  </a:solidFill>
                  <a:latin typeface="Cambria"/>
                  <a:ea typeface="Cambria"/>
                  <a:cs typeface="Cambria"/>
                  <a:sym typeface="Cambria"/>
                </a:rPr>
                <a:t> sin calcular la matriz de Fisher o la divergencia KL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60120" y="4800600"/>
            <a:ext cx="5143500" cy="2057400"/>
            <a:chOff x="0" y="0"/>
            <a:chExt cx="6858000" cy="2743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858000" cy="2743200"/>
            </a:xfrm>
            <a:custGeom>
              <a:avLst/>
              <a:gdLst/>
              <a:ahLst/>
              <a:cxnLst/>
              <a:rect r="r" b="b" t="t" l="l"/>
              <a:pathLst>
                <a:path h="27432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2743200"/>
                  </a:lnTo>
                  <a:lnTo>
                    <a:pt x="0" y="2743200"/>
                  </a:lnTo>
                  <a:close/>
                </a:path>
              </a:pathLst>
            </a:custGeom>
            <a:solidFill>
              <a:srgbClr val="414535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303020" y="4965192"/>
            <a:ext cx="4457700" cy="480060"/>
            <a:chOff x="0" y="0"/>
            <a:chExt cx="5943600" cy="6400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943600" cy="640080"/>
            </a:xfrm>
            <a:custGeom>
              <a:avLst/>
              <a:gdLst/>
              <a:ahLst/>
              <a:cxnLst/>
              <a:rect r="r" b="b" t="t" l="l"/>
              <a:pathLst>
                <a:path h="64008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932" r="0" b="-13093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594360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50">
                  <a:solidFill>
                    <a:srgbClr val="96BBB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RATIO DE PROBABILIDAD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377940" y="4800600"/>
            <a:ext cx="5349240" cy="2057400"/>
            <a:chOff x="0" y="0"/>
            <a:chExt cx="7132320" cy="2743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132320" cy="2743200"/>
            </a:xfrm>
            <a:custGeom>
              <a:avLst/>
              <a:gdLst/>
              <a:ahLst/>
              <a:cxnLst/>
              <a:rect r="r" b="b" t="t" l="l"/>
              <a:pathLst>
                <a:path h="274320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2743200"/>
                  </a:lnTo>
                  <a:lnTo>
                    <a:pt x="0" y="2743200"/>
                  </a:lnTo>
                  <a:close/>
                </a:path>
              </a:pathLst>
            </a:custGeom>
            <a:solidFill>
              <a:srgbClr val="414535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720840" y="4965192"/>
            <a:ext cx="4663440" cy="480060"/>
            <a:chOff x="0" y="0"/>
            <a:chExt cx="6217920" cy="6400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17920" cy="640080"/>
            </a:xfrm>
            <a:custGeom>
              <a:avLst/>
              <a:gdLst/>
              <a:ahLst/>
              <a:cxnLst/>
              <a:rect r="r" b="b" t="t" l="l"/>
              <a:pathLst>
                <a:path h="64008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283" r="0" b="-13928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621792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50">
                  <a:solidFill>
                    <a:srgbClr val="96BBB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OBJETIVO CLIPEADO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001500" y="4800600"/>
            <a:ext cx="5280660" cy="2057400"/>
            <a:chOff x="0" y="0"/>
            <a:chExt cx="7040880" cy="27432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040880" cy="2743200"/>
            </a:xfrm>
            <a:custGeom>
              <a:avLst/>
              <a:gdLst/>
              <a:ahLst/>
              <a:cxnLst/>
              <a:rect r="r" b="b" t="t" l="l"/>
              <a:pathLst>
                <a:path h="2743200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2743200"/>
                  </a:lnTo>
                  <a:lnTo>
                    <a:pt x="0" y="2743200"/>
                  </a:lnTo>
                  <a:close/>
                </a:path>
              </a:pathLst>
            </a:custGeom>
            <a:solidFill>
              <a:srgbClr val="414535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344400" y="4965192"/>
            <a:ext cx="4594860" cy="480060"/>
            <a:chOff x="0" y="0"/>
            <a:chExt cx="6126480" cy="6400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126480" cy="640080"/>
            </a:xfrm>
            <a:custGeom>
              <a:avLst/>
              <a:gdLst/>
              <a:ahLst/>
              <a:cxnLst/>
              <a:rect r="r" b="b" t="t" l="l"/>
              <a:pathLst>
                <a:path h="640080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499" r="0" b="-13649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612648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50">
                  <a:solidFill>
                    <a:srgbClr val="96BBB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PÉRDIDA TOTAL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60120" y="7696200"/>
            <a:ext cx="219456" cy="219456"/>
            <a:chOff x="0" y="0"/>
            <a:chExt cx="292608" cy="29260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B98C64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399032" y="7200900"/>
            <a:ext cx="4869180" cy="1920240"/>
            <a:chOff x="0" y="0"/>
            <a:chExt cx="6492240" cy="25603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492240" cy="2560320"/>
            </a:xfrm>
            <a:custGeom>
              <a:avLst/>
              <a:gdLst/>
              <a:ahLst/>
              <a:cxnLst/>
              <a:rect r="r" b="b" t="t" l="l"/>
              <a:pathLst>
                <a:path h="2560320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8" t="0" r="-598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6492240" cy="26079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27"/>
                </a:lnSpc>
              </a:pPr>
              <a:r>
                <a:rPr lang="en-US" sz="1824">
                  <a:solidFill>
                    <a:srgbClr val="74806B"/>
                  </a:solidFill>
                  <a:latin typeface="Alice"/>
                  <a:ea typeface="Alice"/>
                  <a:cs typeface="Alice"/>
                  <a:sym typeface="Alice"/>
                </a:rPr>
                <a:t>ε = 0.2 (valor estándar): limita a 20% la desviación permitida entre política nueva y anterior en cada actualización.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515100" y="7696200"/>
            <a:ext cx="219456" cy="219456"/>
            <a:chOff x="0" y="0"/>
            <a:chExt cx="292608" cy="29260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B98C64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6954012" y="7200900"/>
            <a:ext cx="4869180" cy="1920240"/>
            <a:chOff x="0" y="0"/>
            <a:chExt cx="6492240" cy="25603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492240" cy="2560320"/>
            </a:xfrm>
            <a:custGeom>
              <a:avLst/>
              <a:gdLst/>
              <a:ahLst/>
              <a:cxnLst/>
              <a:rect r="r" b="b" t="t" l="l"/>
              <a:pathLst>
                <a:path h="2560320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8" t="0" r="-598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6492240" cy="26079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27"/>
                </a:lnSpc>
              </a:pPr>
              <a:r>
                <a:rPr lang="en-US" sz="1824">
                  <a:solidFill>
                    <a:srgbClr val="74806B"/>
                  </a:solidFill>
                  <a:latin typeface="Alice"/>
                  <a:ea typeface="Alice"/>
                  <a:cs typeface="Alice"/>
                  <a:sym typeface="Alice"/>
                </a:rPr>
                <a:t>Combina pérdida de política, pérdida de valor (crítico) y un término de entropía para fomentar la exploración.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070080" y="7696200"/>
            <a:ext cx="219456" cy="219456"/>
            <a:chOff x="0" y="0"/>
            <a:chExt cx="292608" cy="29260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B98C64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2508992" y="7200900"/>
            <a:ext cx="4869180" cy="1920240"/>
            <a:chOff x="0" y="0"/>
            <a:chExt cx="6492240" cy="25603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492240" cy="2560320"/>
            </a:xfrm>
            <a:custGeom>
              <a:avLst/>
              <a:gdLst/>
              <a:ahLst/>
              <a:cxnLst/>
              <a:rect r="r" b="b" t="t" l="l"/>
              <a:pathLst>
                <a:path h="2560320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8" t="0" r="-598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6492240" cy="26079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27"/>
                </a:lnSpc>
              </a:pPr>
              <a:r>
                <a:rPr lang="en-US" sz="1824">
                  <a:solidFill>
                    <a:srgbClr val="74806B"/>
                  </a:solidFill>
                  <a:latin typeface="Alice"/>
                  <a:ea typeface="Alice"/>
                  <a:cs typeface="Alice"/>
                  <a:sym typeface="Alice"/>
                </a:rPr>
                <a:t>En la práctica, política π</a:t>
              </a:r>
              <a:r>
                <a:rPr lang="en-US" sz="1824">
                  <a:solidFill>
                    <a:srgbClr val="74806B"/>
                  </a:solidFill>
                  <a:latin typeface="Alice"/>
                  <a:ea typeface="Alice"/>
                  <a:cs typeface="Alice"/>
                  <a:sym typeface="Alice"/>
                </a:rPr>
                <a:t>θ</a:t>
              </a:r>
              <a:r>
                <a:rPr lang="en-US" sz="1824">
                  <a:solidFill>
                    <a:srgbClr val="74806B"/>
                  </a:solidFill>
                  <a:latin typeface="Alice"/>
                  <a:ea typeface="Alice"/>
                  <a:cs typeface="Alice"/>
                  <a:sym typeface="Alice"/>
                </a:rPr>
                <a:t> y valor V</a:t>
              </a:r>
              <a:r>
                <a:rPr lang="en-US" sz="1824">
                  <a:solidFill>
                    <a:srgbClr val="74806B"/>
                  </a:solidFill>
                  <a:latin typeface="Alice"/>
                  <a:ea typeface="Alice"/>
                  <a:cs typeface="Alice"/>
                  <a:sym typeface="Alice"/>
                </a:rPr>
                <a:t>ϕ</a:t>
              </a:r>
              <a:r>
                <a:rPr lang="en-US" sz="1824">
                  <a:solidFill>
                    <a:srgbClr val="74806B"/>
                  </a:solidFill>
                  <a:latin typeface="Alice"/>
                  <a:ea typeface="Alice"/>
                  <a:cs typeface="Alice"/>
                  <a:sym typeface="Alice"/>
                </a:rPr>
                <a:t> se optimizan de forma conjunta en un único paso de gradiente.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7327423" y="9601200"/>
            <a:ext cx="548640" cy="411480"/>
            <a:chOff x="0" y="0"/>
            <a:chExt cx="731520" cy="5486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A9A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  <p:pic>
        <p:nvPicPr>
          <p:cNvPr name="Picture 44" id="4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31178" y="4972995"/>
            <a:ext cx="5001383" cy="1986017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183344" y="5288995"/>
            <a:ext cx="5738431" cy="1354015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002774" y="5052881"/>
            <a:ext cx="5278111" cy="18262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3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754380"/>
            <a:ext cx="9601200" cy="480060"/>
            <a:chOff x="0" y="0"/>
            <a:chExt cx="128016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01600" cy="640080"/>
            </a:xfrm>
            <a:custGeom>
              <a:avLst/>
              <a:gdLst/>
              <a:ahLst/>
              <a:cxnLst/>
              <a:rect r="r" b="b" t="t" l="l"/>
              <a:pathLst>
                <a:path h="64008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016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3F6E6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ENTORNO DE SIMULACIÓN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379515"/>
            <a:ext cx="7690485" cy="3081449"/>
            <a:chOff x="0" y="0"/>
            <a:chExt cx="10253980" cy="410859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253980" cy="4108599"/>
            </a:xfrm>
            <a:custGeom>
              <a:avLst/>
              <a:gdLst/>
              <a:ahLst/>
              <a:cxnLst/>
              <a:rect r="r" b="b" t="t" l="l"/>
              <a:pathLst>
                <a:path h="4108599" w="10253980">
                  <a:moveTo>
                    <a:pt x="0" y="0"/>
                  </a:moveTo>
                  <a:lnTo>
                    <a:pt x="10253980" y="0"/>
                  </a:lnTo>
                  <a:lnTo>
                    <a:pt x="10253980" y="4108599"/>
                  </a:lnTo>
                  <a:lnTo>
                    <a:pt x="0" y="41085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179" r="-112236" b="-2323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0253980" cy="41181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34382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MovingPlatformLandingAviary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2247900"/>
            <a:ext cx="16322040" cy="685800"/>
            <a:chOff x="0" y="0"/>
            <a:chExt cx="21762720" cy="914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762720" cy="914400"/>
            </a:xfrm>
            <a:custGeom>
              <a:avLst/>
              <a:gdLst/>
              <a:ahLst/>
              <a:cxnLst/>
              <a:rect r="r" b="b" t="t" l="l"/>
              <a:pathLst>
                <a:path h="91440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3743" r="0" b="-41374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176272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i="true">
                  <a:solidFill>
                    <a:srgbClr val="74806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Sobre gym-pybullet-drones — inspirado en el trabajo de Peter et al. (2024).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60120" y="3086100"/>
            <a:ext cx="8023860" cy="6422977"/>
            <a:chOff x="0" y="0"/>
            <a:chExt cx="10698480" cy="856396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698480" cy="8563970"/>
            </a:xfrm>
            <a:custGeom>
              <a:avLst/>
              <a:gdLst/>
              <a:ahLst/>
              <a:cxnLst/>
              <a:rect r="r" b="b" t="t" l="l"/>
              <a:pathLst>
                <a:path h="8563970" w="10698480">
                  <a:moveTo>
                    <a:pt x="0" y="0"/>
                  </a:moveTo>
                  <a:lnTo>
                    <a:pt x="10698480" y="0"/>
                  </a:lnTo>
                  <a:lnTo>
                    <a:pt x="10698480" y="8563970"/>
                  </a:lnTo>
                  <a:lnTo>
                    <a:pt x="0" y="856397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371600" y="3429000"/>
            <a:ext cx="822960" cy="822960"/>
            <a:chOff x="0" y="0"/>
            <a:chExt cx="1097280" cy="10972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E4EEEC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577340" y="3634740"/>
            <a:ext cx="411480" cy="411480"/>
            <a:chOff x="0" y="0"/>
            <a:chExt cx="548640" cy="548640"/>
          </a:xfrm>
        </p:grpSpPr>
        <p:sp>
          <p:nvSpPr>
            <p:cNvPr name="Freeform 16" id="16" descr="icons/eye.png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400300" y="3014582"/>
            <a:ext cx="6172200" cy="1651797"/>
            <a:chOff x="0" y="0"/>
            <a:chExt cx="8229600" cy="22023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229600" cy="2202396"/>
            </a:xfrm>
            <a:custGeom>
              <a:avLst/>
              <a:gdLst/>
              <a:ahLst/>
              <a:cxnLst/>
              <a:rect r="r" b="b" t="t" l="l"/>
              <a:pathLst>
                <a:path h="2202396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2202396"/>
                  </a:lnTo>
                  <a:lnTo>
                    <a:pt x="0" y="22023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201" r="0" b="1058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8229600" cy="22214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34382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Espacio de observación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81125" y="3973550"/>
            <a:ext cx="7269480" cy="3179584"/>
            <a:chOff x="0" y="0"/>
            <a:chExt cx="9692640" cy="423944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692640" cy="4239445"/>
            </a:xfrm>
            <a:custGeom>
              <a:avLst/>
              <a:gdLst/>
              <a:ahLst/>
              <a:cxnLst/>
              <a:rect r="r" b="b" t="t" l="l"/>
              <a:pathLst>
                <a:path h="4239445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4239445"/>
                  </a:lnTo>
                  <a:lnTo>
                    <a:pt x="0" y="4239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81" r="0" b="1878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23825"/>
              <a:ext cx="9692640" cy="43632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43853" indent="-171927" lvl="1">
                <a:lnSpc>
                  <a:spcPts val="3572"/>
                </a:lnSpc>
                <a:buFont typeface="Arial"/>
                <a:buChar char="•"/>
              </a:pPr>
              <a:r>
                <a:rPr lang="en-US" sz="1900">
                  <a:solidFill>
                    <a:srgbClr val="414535"/>
                  </a:solidFill>
                  <a:latin typeface="Cambria"/>
                  <a:ea typeface="Cambria"/>
                  <a:cs typeface="Cambria"/>
                  <a:sym typeface="Cambria"/>
                </a:rPr>
                <a:t>Posición relativa dron–plataforma (rel_pos)</a:t>
              </a:r>
            </a:p>
            <a:p>
              <a:pPr algn="l" marL="343853" indent="-171927" lvl="1">
                <a:lnSpc>
                  <a:spcPts val="3572"/>
                </a:lnSpc>
                <a:buFont typeface="Arial"/>
                <a:buChar char="•"/>
              </a:pPr>
              <a:r>
                <a:rPr lang="en-US" sz="1900">
                  <a:solidFill>
                    <a:srgbClr val="414535"/>
                  </a:solidFill>
                  <a:latin typeface="Cambria"/>
                  <a:ea typeface="Cambria"/>
                  <a:cs typeface="Cambria"/>
                  <a:sym typeface="Cambria"/>
                </a:rPr>
                <a:t>Velocidad relativa (rel_vel)</a:t>
              </a:r>
            </a:p>
            <a:p>
              <a:pPr algn="l" marL="343853" indent="-171927" lvl="1">
                <a:lnSpc>
                  <a:spcPts val="3572"/>
                </a:lnSpc>
                <a:buFont typeface="Arial"/>
                <a:buChar char="•"/>
              </a:pPr>
              <a:r>
                <a:rPr lang="en-US" sz="1900">
                  <a:solidFill>
                    <a:srgbClr val="414535"/>
                  </a:solidFill>
                  <a:latin typeface="Cambria"/>
                  <a:ea typeface="Cambria"/>
                  <a:cs typeface="Cambria"/>
                  <a:sym typeface="Cambria"/>
                </a:rPr>
                <a:t>Orientación: roll, pitch, yaw</a:t>
              </a:r>
            </a:p>
            <a:p>
              <a:pPr algn="l" marL="343853" indent="-171927" lvl="1">
                <a:lnSpc>
                  <a:spcPts val="3572"/>
                </a:lnSpc>
                <a:buFont typeface="Arial"/>
                <a:buChar char="•"/>
              </a:pPr>
              <a:r>
                <a:rPr lang="en-US" sz="1900">
                  <a:solidFill>
                    <a:srgbClr val="414535"/>
                  </a:solidFill>
                  <a:latin typeface="Cambria"/>
                  <a:ea typeface="Cambria"/>
                  <a:cs typeface="Cambria"/>
                  <a:sym typeface="Cambria"/>
                </a:rPr>
                <a:t>Velocidad angular del dron</a:t>
              </a:r>
            </a:p>
            <a:p>
              <a:pPr algn="l" marL="343853" indent="-171927" lvl="1">
                <a:lnSpc>
                  <a:spcPts val="3572"/>
                </a:lnSpc>
                <a:buFont typeface="Arial"/>
                <a:buChar char="•"/>
              </a:pPr>
              <a:r>
                <a:rPr lang="en-US" sz="1900">
                  <a:solidFill>
                    <a:srgbClr val="414535"/>
                  </a:solidFill>
                  <a:latin typeface="Cambria"/>
                  <a:ea typeface="Cambria"/>
                  <a:cs typeface="Cambria"/>
                  <a:sym typeface="Cambria"/>
                </a:rPr>
                <a:t>Velocidad absoluta del dron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62075" y="7264216"/>
            <a:ext cx="7288530" cy="19050"/>
            <a:chOff x="0" y="0"/>
            <a:chExt cx="9718040" cy="25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718040" cy="25400"/>
            </a:xfrm>
            <a:custGeom>
              <a:avLst/>
              <a:gdLst/>
              <a:ahLst/>
              <a:cxnLst/>
              <a:rect r="r" b="b" t="t" l="l"/>
              <a:pathLst>
                <a:path h="25400" w="9718040">
                  <a:moveTo>
                    <a:pt x="0" y="0"/>
                  </a:moveTo>
                  <a:lnTo>
                    <a:pt x="9718040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7404975" r="0" b="-7404975"/>
              </a:stretch>
            </a:blipFill>
            <a:ln w="19050" cap="sq">
              <a:solidFill>
                <a:srgbClr val="D9D3B8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2400300" y="6500232"/>
            <a:ext cx="7269480" cy="1642267"/>
            <a:chOff x="0" y="0"/>
            <a:chExt cx="9692640" cy="218969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692640" cy="2189690"/>
            </a:xfrm>
            <a:custGeom>
              <a:avLst/>
              <a:gdLst/>
              <a:ahLst/>
              <a:cxnLst/>
              <a:rect r="r" b="b" t="t" l="l"/>
              <a:pathLst>
                <a:path h="218969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2189690"/>
                  </a:lnTo>
                  <a:lnTo>
                    <a:pt x="0" y="21896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634" r="0" b="-866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9692640" cy="2199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9"/>
                </a:lnSpc>
              </a:pPr>
              <a:r>
                <a:rPr lang="en-US" sz="2249" b="true">
                  <a:solidFill>
                    <a:srgbClr val="34382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Espacio de acciones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81125" y="7478350"/>
            <a:ext cx="7269480" cy="2418981"/>
            <a:chOff x="0" y="0"/>
            <a:chExt cx="9692640" cy="322530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692640" cy="3225309"/>
            </a:xfrm>
            <a:custGeom>
              <a:avLst/>
              <a:gdLst/>
              <a:ahLst/>
              <a:cxnLst/>
              <a:rect r="r" b="b" t="t" l="l"/>
              <a:pathLst>
                <a:path h="3225309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3225309"/>
                  </a:lnTo>
                  <a:lnTo>
                    <a:pt x="0" y="322530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128" r="0" b="2301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9692640" cy="32729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10211" indent="-205106" lvl="1">
                <a:lnSpc>
                  <a:spcPts val="2736"/>
                </a:lnSpc>
                <a:buFont typeface="Arial"/>
                <a:buChar char="•"/>
              </a:pPr>
              <a:r>
                <a:rPr lang="en-US" sz="1900">
                  <a:solidFill>
                    <a:srgbClr val="414535"/>
                  </a:solidFill>
                  <a:latin typeface="Cambria"/>
                  <a:ea typeface="Cambria"/>
                  <a:cs typeface="Cambria"/>
                  <a:sym typeface="Cambria"/>
                </a:rPr>
                <a:t>Vector de velocidad normalizado (vx, vy, vz) ∈ [-1,1]</a:t>
              </a:r>
            </a:p>
            <a:p>
              <a:pPr algn="l" marL="410211" indent="-205106" lvl="1">
                <a:lnSpc>
                  <a:spcPts val="2736"/>
                </a:lnSpc>
                <a:buFont typeface="Arial"/>
                <a:buChar char="•"/>
              </a:pPr>
              <a:r>
                <a:rPr lang="en-US" sz="1900">
                  <a:solidFill>
                    <a:srgbClr val="414535"/>
                  </a:solidFill>
                  <a:latin typeface="Cambria"/>
                  <a:ea typeface="Cambria"/>
                  <a:cs typeface="Cambria"/>
                  <a:sym typeface="Cambria"/>
                </a:rPr>
                <a:t>Escalar ∈ [0,1] para ajustar magnitud</a:t>
              </a:r>
            </a:p>
            <a:p>
              <a:pPr algn="l" marL="410211" indent="-205106" lvl="1">
                <a:lnSpc>
                  <a:spcPts val="2736"/>
                </a:lnSpc>
                <a:buFont typeface="Arial"/>
                <a:buChar char="•"/>
              </a:pPr>
              <a:r>
                <a:rPr lang="en-US" sz="1900">
                  <a:solidFill>
                    <a:srgbClr val="414535"/>
                  </a:solidFill>
                  <a:latin typeface="Cambria"/>
                  <a:ea typeface="Cambria"/>
                  <a:cs typeface="Cambria"/>
                  <a:sym typeface="Cambria"/>
                </a:rPr>
                <a:t>Heredado de VelocityAviary</a:t>
              </a:r>
            </a:p>
            <a:p>
              <a:pPr algn="l">
                <a:lnSpc>
                  <a:spcPts val="2736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326880" y="3086100"/>
            <a:ext cx="7955280" cy="6422977"/>
            <a:chOff x="0" y="0"/>
            <a:chExt cx="10607040" cy="856396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607040" cy="8563970"/>
            </a:xfrm>
            <a:custGeom>
              <a:avLst/>
              <a:gdLst/>
              <a:ahLst/>
              <a:cxnLst/>
              <a:rect r="r" b="b" t="t" l="l"/>
              <a:pathLst>
                <a:path h="856397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8563970"/>
                  </a:lnTo>
                  <a:lnTo>
                    <a:pt x="0" y="8563970"/>
                  </a:lnTo>
                  <a:close/>
                </a:path>
              </a:pathLst>
            </a:custGeom>
            <a:solidFill>
              <a:srgbClr val="414535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738360" y="3429000"/>
            <a:ext cx="822960" cy="822960"/>
            <a:chOff x="0" y="0"/>
            <a:chExt cx="1097280" cy="10972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3A3E30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944100" y="3634740"/>
            <a:ext cx="411480" cy="411480"/>
            <a:chOff x="0" y="0"/>
            <a:chExt cx="548640" cy="548640"/>
          </a:xfrm>
        </p:grpSpPr>
        <p:sp>
          <p:nvSpPr>
            <p:cNvPr name="Freeform 36" id="36" descr="icons/target_white.png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0770870" y="3014582"/>
            <a:ext cx="6309360" cy="1651797"/>
            <a:chOff x="0" y="0"/>
            <a:chExt cx="8412480" cy="220239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412480" cy="2202396"/>
            </a:xfrm>
            <a:custGeom>
              <a:avLst/>
              <a:gdLst/>
              <a:ahLst/>
              <a:cxnLst/>
              <a:rect r="r" b="b" t="t" l="l"/>
              <a:pathLst>
                <a:path h="2202396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2202396"/>
                  </a:lnTo>
                  <a:lnTo>
                    <a:pt x="0" y="22023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819" r="0" b="896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8412480" cy="22214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Parámetros del entorno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738360" y="3543856"/>
            <a:ext cx="4942967" cy="2130744"/>
            <a:chOff x="0" y="0"/>
            <a:chExt cx="6590623" cy="284099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590623" cy="2840992"/>
            </a:xfrm>
            <a:custGeom>
              <a:avLst/>
              <a:gdLst/>
              <a:ahLst/>
              <a:cxnLst/>
              <a:rect r="r" b="b" t="t" l="l"/>
              <a:pathLst>
                <a:path h="2840992" w="6590623">
                  <a:moveTo>
                    <a:pt x="0" y="0"/>
                  </a:moveTo>
                  <a:lnTo>
                    <a:pt x="6590623" y="0"/>
                  </a:lnTo>
                  <a:lnTo>
                    <a:pt x="6590623" y="2840992"/>
                  </a:lnTo>
                  <a:lnTo>
                    <a:pt x="0" y="28409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993" r="-47067" b="19039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6590623" cy="28505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b="true">
                  <a:solidFill>
                    <a:srgbClr val="96BBB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Plataforma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738360" y="4463237"/>
            <a:ext cx="7269480" cy="1207889"/>
            <a:chOff x="0" y="0"/>
            <a:chExt cx="9692640" cy="161051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692640" cy="1610518"/>
            </a:xfrm>
            <a:custGeom>
              <a:avLst/>
              <a:gdLst/>
              <a:ahLst/>
              <a:cxnLst/>
              <a:rect r="r" b="b" t="t" l="l"/>
              <a:pathLst>
                <a:path h="1610518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1610518"/>
                  </a:lnTo>
                  <a:lnTo>
                    <a:pt x="0" y="16105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879" r="0" b="-45655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28575"/>
              <a:ext cx="9692640" cy="16390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7"/>
                </a:lnSpc>
              </a:pPr>
              <a:r>
                <a:rPr lang="en-US" sz="1650">
                  <a:solidFill>
                    <a:srgbClr val="C3CBB5"/>
                  </a:solidFill>
                  <a:latin typeface="Cambria"/>
                  <a:ea typeface="Cambria"/>
                  <a:cs typeface="Cambria"/>
                  <a:sym typeface="Cambria"/>
                </a:rPr>
                <a:t>Plano cuadrado de 30 x 30 x 5 cm (inicio) ⟶ Cilindro 25 x 35 cm (TurtleBot4)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738360" y="4584713"/>
            <a:ext cx="5251300" cy="2086561"/>
            <a:chOff x="0" y="0"/>
            <a:chExt cx="7001734" cy="278208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001734" cy="2782081"/>
            </a:xfrm>
            <a:custGeom>
              <a:avLst/>
              <a:gdLst/>
              <a:ahLst/>
              <a:cxnLst/>
              <a:rect r="r" b="b" t="t" l="l"/>
              <a:pathLst>
                <a:path h="2782081" w="7001734">
                  <a:moveTo>
                    <a:pt x="0" y="0"/>
                  </a:moveTo>
                  <a:lnTo>
                    <a:pt x="7001734" y="0"/>
                  </a:lnTo>
                  <a:lnTo>
                    <a:pt x="7001734" y="2782081"/>
                  </a:lnTo>
                  <a:lnTo>
                    <a:pt x="0" y="27820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094" r="-38431" b="17324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7001734" cy="27916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b="true">
                  <a:solidFill>
                    <a:srgbClr val="96BBB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Tiempo máximo de simulación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738360" y="5500727"/>
            <a:ext cx="7269480" cy="1207889"/>
            <a:chOff x="0" y="0"/>
            <a:chExt cx="9692640" cy="161051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692640" cy="1610518"/>
            </a:xfrm>
            <a:custGeom>
              <a:avLst/>
              <a:gdLst/>
              <a:ahLst/>
              <a:cxnLst/>
              <a:rect r="r" b="b" t="t" l="l"/>
              <a:pathLst>
                <a:path h="1610518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1610518"/>
                  </a:lnTo>
                  <a:lnTo>
                    <a:pt x="0" y="16105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879" r="0" b="-45655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28575"/>
              <a:ext cx="9692640" cy="16390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7"/>
                </a:lnSpc>
              </a:pPr>
              <a:r>
                <a:rPr lang="en-US" sz="1650">
                  <a:solidFill>
                    <a:srgbClr val="C3CBB5"/>
                  </a:solidFill>
                  <a:latin typeface="Cambria"/>
                  <a:ea typeface="Cambria"/>
                  <a:cs typeface="Cambria"/>
                  <a:sym typeface="Cambria"/>
                </a:rPr>
                <a:t>Fijado en 20 s, </a:t>
              </a:r>
              <a:r>
                <a:rPr lang="en-US" sz="1650">
                  <a:solidFill>
                    <a:srgbClr val="C3CBB5"/>
                  </a:solidFill>
                  <a:latin typeface="Cambria"/>
                  <a:ea typeface="Cambria"/>
                  <a:cs typeface="Cambria"/>
                  <a:sym typeface="Cambria"/>
                </a:rPr>
                <a:t>ajustado al desplazamiento esperado de la plataforma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738360" y="5655810"/>
            <a:ext cx="4255770" cy="2086561"/>
            <a:chOff x="0" y="0"/>
            <a:chExt cx="5674360" cy="278208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674360" cy="2782081"/>
            </a:xfrm>
            <a:custGeom>
              <a:avLst/>
              <a:gdLst/>
              <a:ahLst/>
              <a:cxnLst/>
              <a:rect r="r" b="b" t="t" l="l"/>
              <a:pathLst>
                <a:path h="2782081" w="5674360">
                  <a:moveTo>
                    <a:pt x="0" y="0"/>
                  </a:moveTo>
                  <a:lnTo>
                    <a:pt x="5674360" y="0"/>
                  </a:lnTo>
                  <a:lnTo>
                    <a:pt x="5674360" y="2782081"/>
                  </a:lnTo>
                  <a:lnTo>
                    <a:pt x="0" y="27820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094" r="-70814" b="17324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5674360" cy="27916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b="true">
                  <a:solidFill>
                    <a:srgbClr val="96BBB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Variables de simulación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738360" y="6560426"/>
            <a:ext cx="7269480" cy="1779389"/>
            <a:chOff x="0" y="0"/>
            <a:chExt cx="9692640" cy="237251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692640" cy="2372518"/>
            </a:xfrm>
            <a:custGeom>
              <a:avLst/>
              <a:gdLst/>
              <a:ahLst/>
              <a:cxnLst/>
              <a:rect r="r" b="b" t="t" l="l"/>
              <a:pathLst>
                <a:path h="2372518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2372518"/>
                  </a:lnTo>
                  <a:lnTo>
                    <a:pt x="0" y="23725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333" r="0" b="1125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28575"/>
              <a:ext cx="9692640" cy="24010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7"/>
                </a:lnSpc>
              </a:pPr>
              <a:r>
                <a:rPr lang="en-US" sz="1650">
                  <a:solidFill>
                    <a:srgbClr val="C3CBB5"/>
                  </a:solidFill>
                  <a:latin typeface="Cambria"/>
                  <a:ea typeface="Cambria"/>
                  <a:cs typeface="Cambria"/>
                  <a:sym typeface="Cambria"/>
                </a:rPr>
                <a:t>Velocidades de plataforma: v ~ B(4,2) , ω ~ B(2,4) ⟶ trayectorias más difíciles</a:t>
              </a:r>
            </a:p>
            <a:p>
              <a:pPr algn="l">
                <a:lnSpc>
                  <a:spcPts val="2277"/>
                </a:lnSpc>
              </a:pPr>
              <a:r>
                <a:rPr lang="en-US" sz="1650">
                  <a:solidFill>
                    <a:srgbClr val="C3CBB5"/>
                  </a:solidFill>
                  <a:latin typeface="Cambria"/>
                  <a:ea typeface="Cambria"/>
                  <a:cs typeface="Cambria"/>
                  <a:sym typeface="Cambria"/>
                </a:rPr>
                <a:t>Spawn del dron: z ~ U(0.5,1.5) , radio xy ~ B(4,2) (2 m)</a:t>
              </a:r>
            </a:p>
            <a:p>
              <a:pPr algn="l">
                <a:lnSpc>
                  <a:spcPts val="2277"/>
                </a:lnSpc>
              </a:pPr>
              <a:r>
                <a:rPr lang="en-US" sz="1650">
                  <a:solidFill>
                    <a:srgbClr val="C3CBB5"/>
                  </a:solidFill>
                  <a:latin typeface="Cambria"/>
                  <a:ea typeface="Cambria"/>
                  <a:cs typeface="Cambria"/>
                  <a:sym typeface="Cambria"/>
                </a:rPr>
                <a:t>Variables adicionales: vary_speed , turt_noise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738360" y="7239436"/>
            <a:ext cx="7269480" cy="2018864"/>
            <a:chOff x="0" y="0"/>
            <a:chExt cx="9692640" cy="2691819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692640" cy="2691819"/>
            </a:xfrm>
            <a:custGeom>
              <a:avLst/>
              <a:gdLst/>
              <a:ahLst/>
              <a:cxnLst/>
              <a:rect r="r" b="b" t="t" l="l"/>
              <a:pathLst>
                <a:path h="2691819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2691819"/>
                  </a:lnTo>
                  <a:lnTo>
                    <a:pt x="0" y="26918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874" r="0" b="14552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9692640" cy="27013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00"/>
                </a:lnSpc>
              </a:pPr>
              <a:r>
                <a:rPr lang="en-US" sz="2750" b="true">
                  <a:solidFill>
                    <a:srgbClr val="96BBB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Condiciones de estacionamiento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738360" y="8088511"/>
            <a:ext cx="7269480" cy="1493639"/>
            <a:chOff x="0" y="0"/>
            <a:chExt cx="9692640" cy="199151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9692640" cy="1991518"/>
            </a:xfrm>
            <a:custGeom>
              <a:avLst/>
              <a:gdLst/>
              <a:ahLst/>
              <a:cxnLst/>
              <a:rect r="r" b="b" t="t" l="l"/>
              <a:pathLst>
                <a:path h="1991518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1991518"/>
                  </a:lnTo>
                  <a:lnTo>
                    <a:pt x="0" y="19915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875" r="0" b="-1779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28575"/>
              <a:ext cx="9692640" cy="20200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7"/>
                </a:lnSpc>
              </a:pPr>
              <a:r>
                <a:rPr lang="en-US" sz="1650">
                  <a:solidFill>
                    <a:srgbClr val="C3CBB5"/>
                  </a:solidFill>
                  <a:latin typeface="Cambria"/>
                  <a:ea typeface="Cambria"/>
                  <a:cs typeface="Cambria"/>
                  <a:sym typeface="Cambria"/>
                </a:rPr>
                <a:t>Contacto con plataforma,  inclinación baja, cercanía al centro de la plataforma. </a:t>
              </a:r>
            </a:p>
            <a:p>
              <a:pPr algn="l">
                <a:lnSpc>
                  <a:spcPts val="2277"/>
                </a:lnSpc>
              </a:pPr>
              <a:r>
                <a:rPr lang="en-US" sz="1650">
                  <a:solidFill>
                    <a:srgbClr val="C3CBB5"/>
                  </a:solidFill>
                  <a:latin typeface="Cambria"/>
                  <a:ea typeface="Cambria"/>
                  <a:cs typeface="Cambria"/>
                  <a:sym typeface="Cambria"/>
                </a:rPr>
                <a:t>Estacionamiento ⟶ stable_counter &gt;= 10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7327423" y="9601200"/>
            <a:ext cx="548640" cy="411480"/>
            <a:chOff x="0" y="0"/>
            <a:chExt cx="731520" cy="5486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A9A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371600" y="6909886"/>
            <a:ext cx="822960" cy="822960"/>
            <a:chOff x="0" y="0"/>
            <a:chExt cx="1097280" cy="109728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E4EEEC"/>
            </a:solidFill>
          </p:spPr>
        </p:sp>
      </p:grpSp>
      <p:sp>
        <p:nvSpPr>
          <p:cNvPr name="Freeform 69" id="69"/>
          <p:cNvSpPr/>
          <p:nvPr/>
        </p:nvSpPr>
        <p:spPr>
          <a:xfrm flipH="false" flipV="false" rot="0">
            <a:off x="1508052" y="7124377"/>
            <a:ext cx="550056" cy="393978"/>
          </a:xfrm>
          <a:custGeom>
            <a:avLst/>
            <a:gdLst/>
            <a:ahLst/>
            <a:cxnLst/>
            <a:rect r="r" b="b" t="t" l="l"/>
            <a:pathLst>
              <a:path h="393978" w="550056">
                <a:moveTo>
                  <a:pt x="0" y="0"/>
                </a:moveTo>
                <a:lnTo>
                  <a:pt x="550056" y="0"/>
                </a:lnTo>
                <a:lnTo>
                  <a:pt x="550056" y="393978"/>
                </a:lnTo>
                <a:lnTo>
                  <a:pt x="0" y="3939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0" id="70"/>
          <p:cNvSpPr/>
          <p:nvPr/>
        </p:nvSpPr>
        <p:spPr>
          <a:xfrm flipH="false" flipV="false" rot="0">
            <a:off x="11418214" y="238257"/>
            <a:ext cx="4432028" cy="2600701"/>
          </a:xfrm>
          <a:custGeom>
            <a:avLst/>
            <a:gdLst/>
            <a:ahLst/>
            <a:cxnLst/>
            <a:rect r="r" b="b" t="t" l="l"/>
            <a:pathLst>
              <a:path h="2600701" w="4432028">
                <a:moveTo>
                  <a:pt x="0" y="0"/>
                </a:moveTo>
                <a:lnTo>
                  <a:pt x="4432028" y="0"/>
                </a:lnTo>
                <a:lnTo>
                  <a:pt x="4432028" y="2600701"/>
                </a:lnTo>
                <a:lnTo>
                  <a:pt x="0" y="26007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3612" t="-15750" r="-6057" b="-6581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3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754380"/>
            <a:ext cx="9601200" cy="480060"/>
            <a:chOff x="0" y="0"/>
            <a:chExt cx="128016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01600" cy="640080"/>
            </a:xfrm>
            <a:custGeom>
              <a:avLst/>
              <a:gdLst/>
              <a:ahLst/>
              <a:cxnLst/>
              <a:rect r="r" b="b" t="t" l="l"/>
              <a:pathLst>
                <a:path h="64008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016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3F6E6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ENTORNO DE SIMULACIÓN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303020"/>
            <a:ext cx="16322040" cy="1234440"/>
            <a:chOff x="0" y="0"/>
            <a:chExt cx="2176272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627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7635" r="0" b="-20763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76272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34382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Tres ambientes, dificultad creciente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2301240"/>
            <a:ext cx="16322040" cy="548640"/>
            <a:chOff x="0" y="0"/>
            <a:chExt cx="2176272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762720" cy="731520"/>
            </a:xfrm>
            <a:custGeom>
              <a:avLst/>
              <a:gdLst/>
              <a:ahLst/>
              <a:cxnLst/>
              <a:rect r="r" b="b" t="t" l="l"/>
              <a:pathLst>
                <a:path h="7315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9679" r="0" b="-52967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17627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6"/>
                </a:lnSpc>
              </a:pPr>
              <a:r>
                <a:rPr lang="en-US" sz="2030" i="true">
                  <a:solidFill>
                    <a:srgbClr val="74806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Cambian rangos de velocidades, vary_speed y turt_noise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60120" y="2948940"/>
            <a:ext cx="5280660" cy="3388995"/>
            <a:chOff x="0" y="0"/>
            <a:chExt cx="7040880" cy="45186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040880" cy="4518660"/>
            </a:xfrm>
            <a:custGeom>
              <a:avLst/>
              <a:gdLst/>
              <a:ahLst/>
              <a:cxnLst/>
              <a:rect r="r" b="b" t="t" l="l"/>
              <a:pathLst>
                <a:path h="4518660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4518660"/>
                  </a:lnTo>
                  <a:lnTo>
                    <a:pt x="0" y="45186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371600" y="3291840"/>
            <a:ext cx="2057400" cy="754380"/>
            <a:chOff x="0" y="0"/>
            <a:chExt cx="2743200" cy="10058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7432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" r="0" b="-314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274320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C9C5A3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124075" y="3436620"/>
            <a:ext cx="1851660" cy="480060"/>
            <a:chOff x="0" y="0"/>
            <a:chExt cx="2468880" cy="6400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68880" cy="640080"/>
            </a:xfrm>
            <a:custGeom>
              <a:avLst/>
              <a:gdLst/>
              <a:ahLst/>
              <a:cxnLst/>
              <a:rect r="r" b="b" t="t" l="l"/>
              <a:pathLst>
                <a:path h="640080" w="2468880">
                  <a:moveTo>
                    <a:pt x="0" y="0"/>
                  </a:moveTo>
                  <a:lnTo>
                    <a:pt x="2468880" y="0"/>
                  </a:lnTo>
                  <a:lnTo>
                    <a:pt x="2468880" y="640080"/>
                  </a:lnTo>
                  <a:lnTo>
                    <a:pt x="0" y="640080"/>
                  </a:lnTo>
                  <a:close/>
                </a:path>
              </a:pathLst>
            </a:custGeom>
            <a:solidFill>
              <a:srgbClr val="E4EEEC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2124075" y="3436620"/>
            <a:ext cx="1851660" cy="480060"/>
            <a:chOff x="0" y="0"/>
            <a:chExt cx="2468880" cy="6400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468880" cy="640080"/>
            </a:xfrm>
            <a:custGeom>
              <a:avLst/>
              <a:gdLst/>
              <a:ahLst/>
              <a:cxnLst/>
              <a:rect r="r" b="b" t="t" l="l"/>
              <a:pathLst>
                <a:path h="640080" w="2468880">
                  <a:moveTo>
                    <a:pt x="0" y="0"/>
                  </a:moveTo>
                  <a:lnTo>
                    <a:pt x="2468880" y="0"/>
                  </a:lnTo>
                  <a:lnTo>
                    <a:pt x="24688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156" r="0" b="-2515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46888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b="true" sz="1425" spc="150">
                  <a:solidFill>
                    <a:srgbClr val="3F6E6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BASE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71600" y="4074795"/>
            <a:ext cx="4457700" cy="617220"/>
            <a:chOff x="0" y="0"/>
            <a:chExt cx="5943600" cy="8229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943600" cy="822960"/>
            </a:xfrm>
            <a:custGeom>
              <a:avLst/>
              <a:gdLst/>
              <a:ahLst/>
              <a:cxnLst/>
              <a:rect r="r" b="b" t="t" l="l"/>
              <a:pathLst>
                <a:path h="82296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725" r="0" b="-9072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594360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34382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Estático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71600" y="4579620"/>
            <a:ext cx="4457700" cy="1577340"/>
            <a:chOff x="0" y="0"/>
            <a:chExt cx="5943600" cy="21031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943600" cy="2103120"/>
            </a:xfrm>
            <a:custGeom>
              <a:avLst/>
              <a:gdLst/>
              <a:ahLst/>
              <a:cxnLst/>
              <a:rect r="r" b="b" t="t" l="l"/>
              <a:pathLst>
                <a:path h="210312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6" r="0" b="-5066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5943600" cy="2150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15"/>
                </a:lnSpc>
              </a:pPr>
              <a:r>
                <a:rPr lang="en-US" sz="1650">
                  <a:solidFill>
                    <a:srgbClr val="74806B"/>
                  </a:solidFill>
                  <a:latin typeface="Cambria"/>
                  <a:ea typeface="Cambria"/>
                  <a:cs typeface="Cambria"/>
                  <a:sym typeface="Cambria"/>
                </a:rPr>
                <a:t>La plataforma permanece fija en su posición inicial durante todo el episodio (v = ω = 0).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515100" y="2948940"/>
            <a:ext cx="5280660" cy="3388995"/>
            <a:chOff x="0" y="0"/>
            <a:chExt cx="7040880" cy="45186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040880" cy="4518660"/>
            </a:xfrm>
            <a:custGeom>
              <a:avLst/>
              <a:gdLst/>
              <a:ahLst/>
              <a:cxnLst/>
              <a:rect r="r" b="b" t="t" l="l"/>
              <a:pathLst>
                <a:path h="4518660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4518660"/>
                  </a:lnTo>
                  <a:lnTo>
                    <a:pt x="0" y="45186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6926580" y="3291840"/>
            <a:ext cx="2057400" cy="754380"/>
            <a:chOff x="0" y="0"/>
            <a:chExt cx="2743200" cy="10058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7432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" r="0" b="-314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274320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C9C5A3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02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679055" y="3436620"/>
            <a:ext cx="1851660" cy="480060"/>
            <a:chOff x="0" y="0"/>
            <a:chExt cx="2468880" cy="6400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468880" cy="640080"/>
            </a:xfrm>
            <a:custGeom>
              <a:avLst/>
              <a:gdLst/>
              <a:ahLst/>
              <a:cxnLst/>
              <a:rect r="r" b="b" t="t" l="l"/>
              <a:pathLst>
                <a:path h="640080" w="2468880">
                  <a:moveTo>
                    <a:pt x="0" y="0"/>
                  </a:moveTo>
                  <a:lnTo>
                    <a:pt x="2468880" y="0"/>
                  </a:lnTo>
                  <a:lnTo>
                    <a:pt x="2468880" y="640080"/>
                  </a:lnTo>
                  <a:lnTo>
                    <a:pt x="0" y="640080"/>
                  </a:lnTo>
                  <a:close/>
                </a:path>
              </a:pathLst>
            </a:custGeom>
            <a:solidFill>
              <a:srgbClr val="E4EEEC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7679055" y="3436620"/>
            <a:ext cx="1851660" cy="480060"/>
            <a:chOff x="0" y="0"/>
            <a:chExt cx="2468880" cy="6400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468880" cy="640080"/>
            </a:xfrm>
            <a:custGeom>
              <a:avLst/>
              <a:gdLst/>
              <a:ahLst/>
              <a:cxnLst/>
              <a:rect r="r" b="b" t="t" l="l"/>
              <a:pathLst>
                <a:path h="640080" w="2468880">
                  <a:moveTo>
                    <a:pt x="0" y="0"/>
                  </a:moveTo>
                  <a:lnTo>
                    <a:pt x="2468880" y="0"/>
                  </a:lnTo>
                  <a:lnTo>
                    <a:pt x="24688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156" r="0" b="-25156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246888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b="true" sz="1425" spc="150">
                  <a:solidFill>
                    <a:srgbClr val="3F6E6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INTERMEDIO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926580" y="4074795"/>
            <a:ext cx="4457700" cy="617220"/>
            <a:chOff x="0" y="0"/>
            <a:chExt cx="5943600" cy="8229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943600" cy="822960"/>
            </a:xfrm>
            <a:custGeom>
              <a:avLst/>
              <a:gdLst/>
              <a:ahLst/>
              <a:cxnLst/>
              <a:rect r="r" b="b" t="t" l="l"/>
              <a:pathLst>
                <a:path h="82296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725" r="0" b="-9072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594360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34382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Lineal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6926580" y="4306422"/>
            <a:ext cx="4457700" cy="2123736"/>
            <a:chOff x="0" y="0"/>
            <a:chExt cx="5943600" cy="283164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943600" cy="2831649"/>
            </a:xfrm>
            <a:custGeom>
              <a:avLst/>
              <a:gdLst/>
              <a:ahLst/>
              <a:cxnLst/>
              <a:rect r="r" b="b" t="t" l="l"/>
              <a:pathLst>
                <a:path h="2831649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2831649"/>
                  </a:lnTo>
                  <a:lnTo>
                    <a:pt x="0" y="28316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2" r="0" b="21965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5943600" cy="28792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15"/>
                </a:lnSpc>
              </a:pPr>
              <a:r>
                <a:rPr lang="en-US" sz="1650">
                  <a:solidFill>
                    <a:srgbClr val="74806B"/>
                  </a:solidFill>
                  <a:latin typeface="Cambria"/>
                  <a:ea typeface="Cambria"/>
                  <a:cs typeface="Cambria"/>
                  <a:sym typeface="Cambria"/>
                </a:rPr>
                <a:t>Ángulo fijo al inicio, desplazamiento en línea recta a velocidad constante. </a:t>
              </a:r>
            </a:p>
            <a:p>
              <a:pPr algn="l">
                <a:lnSpc>
                  <a:spcPts val="2415"/>
                </a:lnSpc>
              </a:pPr>
              <a:r>
                <a:rPr lang="en-US" sz="1650">
                  <a:solidFill>
                    <a:srgbClr val="74806B"/>
                  </a:solidFill>
                  <a:latin typeface="Cambria"/>
                  <a:ea typeface="Cambria"/>
                  <a:cs typeface="Cambria"/>
                  <a:sym typeface="Cambria"/>
                </a:rPr>
                <a:t>Variantes: velocidad que cambia entre episodios o durante el mismo episodio.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2070080" y="2948940"/>
            <a:ext cx="5280660" cy="3388995"/>
            <a:chOff x="0" y="0"/>
            <a:chExt cx="7040880" cy="451866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040880" cy="4518660"/>
            </a:xfrm>
            <a:custGeom>
              <a:avLst/>
              <a:gdLst/>
              <a:ahLst/>
              <a:cxnLst/>
              <a:rect r="r" b="b" t="t" l="l"/>
              <a:pathLst>
                <a:path h="4518660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4518660"/>
                  </a:lnTo>
                  <a:lnTo>
                    <a:pt x="0" y="4518660"/>
                  </a:lnTo>
                  <a:close/>
                </a:path>
              </a:pathLst>
            </a:custGeom>
            <a:solidFill>
              <a:srgbClr val="414535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2481560" y="3291840"/>
            <a:ext cx="2057400" cy="754380"/>
            <a:chOff x="0" y="0"/>
            <a:chExt cx="2743200" cy="10058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7432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" r="0" b="-314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274320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96BBB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03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3234035" y="3436620"/>
            <a:ext cx="1851660" cy="480060"/>
            <a:chOff x="0" y="0"/>
            <a:chExt cx="2468880" cy="6400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468880" cy="640080"/>
            </a:xfrm>
            <a:custGeom>
              <a:avLst/>
              <a:gdLst/>
              <a:ahLst/>
              <a:cxnLst/>
              <a:rect r="r" b="b" t="t" l="l"/>
              <a:pathLst>
                <a:path h="640080" w="2468880">
                  <a:moveTo>
                    <a:pt x="0" y="0"/>
                  </a:moveTo>
                  <a:lnTo>
                    <a:pt x="2468880" y="0"/>
                  </a:lnTo>
                  <a:lnTo>
                    <a:pt x="2468880" y="640080"/>
                  </a:lnTo>
                  <a:lnTo>
                    <a:pt x="0" y="640080"/>
                  </a:lnTo>
                  <a:close/>
                </a:path>
              </a:pathLst>
            </a:custGeom>
            <a:solidFill>
              <a:srgbClr val="B98C64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3234035" y="3436620"/>
            <a:ext cx="1851660" cy="480060"/>
            <a:chOff x="0" y="0"/>
            <a:chExt cx="2468880" cy="6400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468880" cy="640080"/>
            </a:xfrm>
            <a:custGeom>
              <a:avLst/>
              <a:gdLst/>
              <a:ahLst/>
              <a:cxnLst/>
              <a:rect r="r" b="b" t="t" l="l"/>
              <a:pathLst>
                <a:path h="640080" w="2468880">
                  <a:moveTo>
                    <a:pt x="0" y="0"/>
                  </a:moveTo>
                  <a:lnTo>
                    <a:pt x="2468880" y="0"/>
                  </a:lnTo>
                  <a:lnTo>
                    <a:pt x="24688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156" r="0" b="-25156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246888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b="true" sz="1425" spc="150">
                  <a:solidFill>
                    <a:srgbClr val="4145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FINAL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2481560" y="4074795"/>
            <a:ext cx="4457700" cy="617220"/>
            <a:chOff x="0" y="0"/>
            <a:chExt cx="5943600" cy="8229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943600" cy="822960"/>
            </a:xfrm>
            <a:custGeom>
              <a:avLst/>
              <a:gdLst/>
              <a:ahLst/>
              <a:cxnLst/>
              <a:rect r="r" b="b" t="t" l="l"/>
              <a:pathLst>
                <a:path h="82296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725" r="0" b="-90725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594360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TurtleBot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2481560" y="4306422"/>
            <a:ext cx="4457700" cy="2123736"/>
            <a:chOff x="0" y="0"/>
            <a:chExt cx="5943600" cy="283164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943600" cy="2831649"/>
            </a:xfrm>
            <a:custGeom>
              <a:avLst/>
              <a:gdLst/>
              <a:ahLst/>
              <a:cxnLst/>
              <a:rect r="r" b="b" t="t" l="l"/>
              <a:pathLst>
                <a:path h="2831649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2831649"/>
                  </a:lnTo>
                  <a:lnTo>
                    <a:pt x="0" y="28316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2" r="0" b="21965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5943600" cy="28792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15"/>
                </a:lnSpc>
              </a:pPr>
              <a:r>
                <a:rPr lang="en-US" sz="1650">
                  <a:solidFill>
                    <a:srgbClr val="C3CBB5"/>
                  </a:solidFill>
                  <a:latin typeface="Cambria"/>
                  <a:ea typeface="Cambria"/>
                  <a:cs typeface="Cambria"/>
                  <a:sym typeface="Cambria"/>
                </a:rPr>
                <a:t>Velocidad lineal + angular emulando la cinemática real (v ∈ [0.05,0.3] m/s, ω ∈ [0,3.0] rad/s), con variación de velocidad y ruido por paso.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60120" y="6499860"/>
            <a:ext cx="5280660" cy="3512820"/>
            <a:chOff x="0" y="0"/>
            <a:chExt cx="7040880" cy="468376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040880" cy="4683760"/>
            </a:xfrm>
            <a:custGeom>
              <a:avLst/>
              <a:gdLst/>
              <a:ahLst/>
              <a:cxnLst/>
              <a:rect r="r" b="b" t="t" l="l"/>
              <a:pathLst>
                <a:path h="4683760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4683760"/>
                  </a:lnTo>
                  <a:lnTo>
                    <a:pt x="0" y="4683760"/>
                  </a:lnTo>
                  <a:close/>
                </a:path>
              </a:pathLst>
            </a:custGeom>
            <a:blipFill>
              <a:blip r:embed="rId4"/>
              <a:stretch>
                <a:fillRect l="0" t="-6372" r="0" b="-6372"/>
              </a:stretch>
            </a:blipFill>
            <a:ln w="38100" cap="sq">
              <a:solidFill>
                <a:srgbClr val="93AF85"/>
              </a:solidFill>
              <a:prstDash val="lgDash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17327423" y="9601200"/>
            <a:ext cx="548640" cy="531149"/>
            <a:chOff x="0" y="0"/>
            <a:chExt cx="731520" cy="708199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31520" cy="708199"/>
            </a:xfrm>
            <a:custGeom>
              <a:avLst/>
              <a:gdLst/>
              <a:ahLst/>
              <a:cxnLst/>
              <a:rect r="r" b="b" t="t" l="l"/>
              <a:pathLst>
                <a:path h="708199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08199"/>
                  </a:lnTo>
                  <a:lnTo>
                    <a:pt x="0" y="7081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2253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731520" cy="7462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A9A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  <a:p>
              <a:pPr algn="r">
                <a:lnSpc>
                  <a:spcPts val="1800"/>
                </a:lnSpc>
              </a:pP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6503670" y="6499860"/>
            <a:ext cx="5280660" cy="3512820"/>
            <a:chOff x="0" y="0"/>
            <a:chExt cx="7040880" cy="468376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7040880" cy="4683760"/>
            </a:xfrm>
            <a:custGeom>
              <a:avLst/>
              <a:gdLst/>
              <a:ahLst/>
              <a:cxnLst/>
              <a:rect r="r" b="b" t="t" l="l"/>
              <a:pathLst>
                <a:path h="4683760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4683760"/>
                  </a:lnTo>
                  <a:lnTo>
                    <a:pt x="0" y="4683760"/>
                  </a:lnTo>
                  <a:close/>
                </a:path>
              </a:pathLst>
            </a:custGeom>
            <a:blipFill>
              <a:blip r:embed="rId5"/>
              <a:stretch>
                <a:fillRect l="0" t="-6372" r="0" b="-6372"/>
              </a:stretch>
            </a:blipFill>
            <a:ln w="38100" cap="sq">
              <a:solidFill>
                <a:srgbClr val="93AF85"/>
              </a:solidFill>
              <a:prstDash val="lgDash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12070080" y="6499860"/>
            <a:ext cx="5280660" cy="3512820"/>
            <a:chOff x="0" y="0"/>
            <a:chExt cx="7040880" cy="468376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7040880" cy="4683760"/>
            </a:xfrm>
            <a:custGeom>
              <a:avLst/>
              <a:gdLst/>
              <a:ahLst/>
              <a:cxnLst/>
              <a:rect r="r" b="b" t="t" l="l"/>
              <a:pathLst>
                <a:path h="4683760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4683760"/>
                  </a:lnTo>
                  <a:lnTo>
                    <a:pt x="0" y="4683760"/>
                  </a:lnTo>
                  <a:close/>
                </a:path>
              </a:pathLst>
            </a:custGeom>
            <a:blipFill>
              <a:blip r:embed="rId6"/>
              <a:stretch>
                <a:fillRect l="0" t="-6372" r="0" b="-6372"/>
              </a:stretch>
            </a:blipFill>
            <a:ln w="38100" cap="sq">
              <a:solidFill>
                <a:srgbClr val="93AF85"/>
              </a:solidFill>
              <a:prstDash val="lgDash"/>
              <a:miter/>
            </a:ln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3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754380"/>
            <a:ext cx="9601200" cy="480060"/>
            <a:chOff x="0" y="0"/>
            <a:chExt cx="128016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01600" cy="640080"/>
            </a:xfrm>
            <a:custGeom>
              <a:avLst/>
              <a:gdLst/>
              <a:ahLst/>
              <a:cxnLst/>
              <a:rect r="r" b="b" t="t" l="l"/>
              <a:pathLst>
                <a:path h="64008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016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3F6E6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DESARROLLO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379515"/>
            <a:ext cx="11646942" cy="3081449"/>
            <a:chOff x="0" y="0"/>
            <a:chExt cx="15529256" cy="410859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529257" cy="4108599"/>
            </a:xfrm>
            <a:custGeom>
              <a:avLst/>
              <a:gdLst/>
              <a:ahLst/>
              <a:cxnLst/>
              <a:rect r="r" b="b" t="t" l="l"/>
              <a:pathLst>
                <a:path h="4108599" w="15529257">
                  <a:moveTo>
                    <a:pt x="0" y="0"/>
                  </a:moveTo>
                  <a:lnTo>
                    <a:pt x="15529257" y="0"/>
                  </a:lnTo>
                  <a:lnTo>
                    <a:pt x="15529257" y="4108599"/>
                  </a:lnTo>
                  <a:lnTo>
                    <a:pt x="0" y="41085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179" r="-40140" b="-2323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5529256" cy="41181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34382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Hiperparámetros de entrenamiento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2194560"/>
            <a:ext cx="16322040" cy="548640"/>
            <a:chOff x="0" y="0"/>
            <a:chExt cx="2176272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762720" cy="731520"/>
            </a:xfrm>
            <a:custGeom>
              <a:avLst/>
              <a:gdLst/>
              <a:ahLst/>
              <a:cxnLst/>
              <a:rect r="r" b="b" t="t" l="l"/>
              <a:pathLst>
                <a:path h="7315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9679" r="0" b="-52967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17627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i="true">
                  <a:solidFill>
                    <a:srgbClr val="74806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PPO implementado con Stable-Baselines3.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60120" y="2743200"/>
            <a:ext cx="3881628" cy="1810512"/>
            <a:chOff x="0" y="0"/>
            <a:chExt cx="5175504" cy="241401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75504" cy="2414016"/>
            </a:xfrm>
            <a:custGeom>
              <a:avLst/>
              <a:gdLst/>
              <a:ahLst/>
              <a:cxnLst/>
              <a:rect r="r" b="b" t="t" l="l"/>
              <a:pathLst>
                <a:path h="2414016" w="5175504">
                  <a:moveTo>
                    <a:pt x="0" y="0"/>
                  </a:moveTo>
                  <a:lnTo>
                    <a:pt x="5175504" y="0"/>
                  </a:lnTo>
                  <a:lnTo>
                    <a:pt x="5175504" y="2414016"/>
                  </a:lnTo>
                  <a:lnTo>
                    <a:pt x="0" y="241401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07008" y="2935224"/>
            <a:ext cx="3387852" cy="411480"/>
            <a:chOff x="0" y="0"/>
            <a:chExt cx="4517136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517136" cy="548640"/>
            </a:xfrm>
            <a:custGeom>
              <a:avLst/>
              <a:gdLst/>
              <a:ahLst/>
              <a:cxnLst/>
              <a:rect r="r" b="b" t="t" l="l"/>
              <a:pathLst>
                <a:path h="548640" w="4517136">
                  <a:moveTo>
                    <a:pt x="0" y="0"/>
                  </a:moveTo>
                  <a:lnTo>
                    <a:pt x="4517136" y="0"/>
                  </a:lnTo>
                  <a:lnTo>
                    <a:pt x="451713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426" r="0" b="-11042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4517136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75">
                  <a:solidFill>
                    <a:srgbClr val="3F6E6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ARQUITECTURA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07008" y="2880475"/>
            <a:ext cx="3387852" cy="1535962"/>
            <a:chOff x="0" y="0"/>
            <a:chExt cx="4517136" cy="204794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517136" cy="2047949"/>
            </a:xfrm>
            <a:custGeom>
              <a:avLst/>
              <a:gdLst/>
              <a:ahLst/>
              <a:cxnLst/>
              <a:rect r="r" b="b" t="t" l="l"/>
              <a:pathLst>
                <a:path h="2047949" w="4517136">
                  <a:moveTo>
                    <a:pt x="0" y="0"/>
                  </a:moveTo>
                  <a:lnTo>
                    <a:pt x="4517136" y="0"/>
                  </a:lnTo>
                  <a:lnTo>
                    <a:pt x="4517136" y="2047949"/>
                  </a:lnTo>
                  <a:lnTo>
                    <a:pt x="0" y="20479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118" r="0" b="3916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4517136" cy="20669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43829"/>
                  </a:solidFill>
                  <a:latin typeface="Cambria"/>
                  <a:ea typeface="Cambria"/>
                  <a:cs typeface="Cambria"/>
                  <a:sym typeface="Cambria"/>
                </a:rPr>
                <a:t>MlpPolicy · 2×128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07008" y="3977640"/>
            <a:ext cx="3387852" cy="438912"/>
            <a:chOff x="0" y="0"/>
            <a:chExt cx="4517136" cy="58521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517136" cy="585216"/>
            </a:xfrm>
            <a:custGeom>
              <a:avLst/>
              <a:gdLst/>
              <a:ahLst/>
              <a:cxnLst/>
              <a:rect r="r" b="b" t="t" l="l"/>
              <a:pathLst>
                <a:path h="585216" w="4517136">
                  <a:moveTo>
                    <a:pt x="0" y="0"/>
                  </a:moveTo>
                  <a:lnTo>
                    <a:pt x="4517136" y="0"/>
                  </a:lnTo>
                  <a:lnTo>
                    <a:pt x="451713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400" r="0" b="-10040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4517136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41"/>
                </a:lnSpc>
              </a:pPr>
              <a:r>
                <a:rPr lang="en-US" sz="1395">
                  <a:solidFill>
                    <a:srgbClr val="7480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Redes independientes actor/crítico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020056" y="2743200"/>
            <a:ext cx="3881628" cy="1810512"/>
            <a:chOff x="0" y="0"/>
            <a:chExt cx="5175504" cy="241401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175504" cy="2414016"/>
            </a:xfrm>
            <a:custGeom>
              <a:avLst/>
              <a:gdLst/>
              <a:ahLst/>
              <a:cxnLst/>
              <a:rect r="r" b="b" t="t" l="l"/>
              <a:pathLst>
                <a:path h="2414016" w="5175504">
                  <a:moveTo>
                    <a:pt x="0" y="0"/>
                  </a:moveTo>
                  <a:lnTo>
                    <a:pt x="5175504" y="0"/>
                  </a:lnTo>
                  <a:lnTo>
                    <a:pt x="5175504" y="2414016"/>
                  </a:lnTo>
                  <a:lnTo>
                    <a:pt x="0" y="241401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5266944" y="2935224"/>
            <a:ext cx="3387852" cy="411480"/>
            <a:chOff x="0" y="0"/>
            <a:chExt cx="4517136" cy="5486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517136" cy="548640"/>
            </a:xfrm>
            <a:custGeom>
              <a:avLst/>
              <a:gdLst/>
              <a:ahLst/>
              <a:cxnLst/>
              <a:rect r="r" b="b" t="t" l="l"/>
              <a:pathLst>
                <a:path h="548640" w="4517136">
                  <a:moveTo>
                    <a:pt x="0" y="0"/>
                  </a:moveTo>
                  <a:lnTo>
                    <a:pt x="4517136" y="0"/>
                  </a:lnTo>
                  <a:lnTo>
                    <a:pt x="451713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426" r="0" b="-110426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4517136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75">
                  <a:solidFill>
                    <a:srgbClr val="3F6E6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GAE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5263515" y="2839442"/>
            <a:ext cx="3387852" cy="1535962"/>
            <a:chOff x="0" y="0"/>
            <a:chExt cx="4517136" cy="204794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517136" cy="2047949"/>
            </a:xfrm>
            <a:custGeom>
              <a:avLst/>
              <a:gdLst/>
              <a:ahLst/>
              <a:cxnLst/>
              <a:rect r="r" b="b" t="t" l="l"/>
              <a:pathLst>
                <a:path h="2047949" w="4517136">
                  <a:moveTo>
                    <a:pt x="0" y="0"/>
                  </a:moveTo>
                  <a:lnTo>
                    <a:pt x="4517136" y="0"/>
                  </a:lnTo>
                  <a:lnTo>
                    <a:pt x="4517136" y="2047949"/>
                  </a:lnTo>
                  <a:lnTo>
                    <a:pt x="0" y="20479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118" r="0" b="39162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4517136" cy="20669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43829"/>
                  </a:solidFill>
                  <a:latin typeface="Cambria"/>
                  <a:ea typeface="Cambria"/>
                  <a:cs typeface="Cambria"/>
                  <a:sym typeface="Cambria"/>
                </a:rPr>
                <a:t>γ=0.99 · λ=0.95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266944" y="3977640"/>
            <a:ext cx="3387852" cy="438912"/>
            <a:chOff x="0" y="0"/>
            <a:chExt cx="4517136" cy="58521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517136" cy="585216"/>
            </a:xfrm>
            <a:custGeom>
              <a:avLst/>
              <a:gdLst/>
              <a:ahLst/>
              <a:cxnLst/>
              <a:rect r="r" b="b" t="t" l="l"/>
              <a:pathLst>
                <a:path h="585216" w="4517136">
                  <a:moveTo>
                    <a:pt x="0" y="0"/>
                  </a:moveTo>
                  <a:lnTo>
                    <a:pt x="4517136" y="0"/>
                  </a:lnTo>
                  <a:lnTo>
                    <a:pt x="451713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400" r="0" b="-10040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4517136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41"/>
                </a:lnSpc>
              </a:pPr>
              <a:r>
                <a:rPr lang="en-US" sz="1395">
                  <a:solidFill>
                    <a:srgbClr val="7480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Balance sesgo-varianza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079992" y="2743200"/>
            <a:ext cx="3881628" cy="1810512"/>
            <a:chOff x="0" y="0"/>
            <a:chExt cx="5175504" cy="241401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175504" cy="2414016"/>
            </a:xfrm>
            <a:custGeom>
              <a:avLst/>
              <a:gdLst/>
              <a:ahLst/>
              <a:cxnLst/>
              <a:rect r="r" b="b" t="t" l="l"/>
              <a:pathLst>
                <a:path h="2414016" w="5175504">
                  <a:moveTo>
                    <a:pt x="0" y="0"/>
                  </a:moveTo>
                  <a:lnTo>
                    <a:pt x="5175504" y="0"/>
                  </a:lnTo>
                  <a:lnTo>
                    <a:pt x="5175504" y="2414016"/>
                  </a:lnTo>
                  <a:lnTo>
                    <a:pt x="0" y="241401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326880" y="2935224"/>
            <a:ext cx="3387852" cy="411480"/>
            <a:chOff x="0" y="0"/>
            <a:chExt cx="4517136" cy="5486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517136" cy="548640"/>
            </a:xfrm>
            <a:custGeom>
              <a:avLst/>
              <a:gdLst/>
              <a:ahLst/>
              <a:cxnLst/>
              <a:rect r="r" b="b" t="t" l="l"/>
              <a:pathLst>
                <a:path h="548640" w="4517136">
                  <a:moveTo>
                    <a:pt x="0" y="0"/>
                  </a:moveTo>
                  <a:lnTo>
                    <a:pt x="4517136" y="0"/>
                  </a:lnTo>
                  <a:lnTo>
                    <a:pt x="451713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426" r="0" b="-110426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4517136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75">
                  <a:solidFill>
                    <a:srgbClr val="3F6E6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NORMALIZACIÓN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320784" y="2880475"/>
            <a:ext cx="3387852" cy="1535962"/>
            <a:chOff x="0" y="0"/>
            <a:chExt cx="4517136" cy="204794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517136" cy="2047949"/>
            </a:xfrm>
            <a:custGeom>
              <a:avLst/>
              <a:gdLst/>
              <a:ahLst/>
              <a:cxnLst/>
              <a:rect r="r" b="b" t="t" l="l"/>
              <a:pathLst>
                <a:path h="2047949" w="4517136">
                  <a:moveTo>
                    <a:pt x="0" y="0"/>
                  </a:moveTo>
                  <a:lnTo>
                    <a:pt x="4517136" y="0"/>
                  </a:lnTo>
                  <a:lnTo>
                    <a:pt x="4517136" y="2047949"/>
                  </a:lnTo>
                  <a:lnTo>
                    <a:pt x="0" y="20479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118" r="0" b="39162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4517136" cy="20669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43829"/>
                  </a:solidFill>
                  <a:latin typeface="Cambria"/>
                  <a:ea typeface="Cambria"/>
                  <a:cs typeface="Cambria"/>
                  <a:sym typeface="Cambria"/>
                </a:rPr>
                <a:t>VecNormalize CLIP ±10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326880" y="3977640"/>
            <a:ext cx="3387852" cy="438912"/>
            <a:chOff x="0" y="0"/>
            <a:chExt cx="4517136" cy="58521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517136" cy="585216"/>
            </a:xfrm>
            <a:custGeom>
              <a:avLst/>
              <a:gdLst/>
              <a:ahLst/>
              <a:cxnLst/>
              <a:rect r="r" b="b" t="t" l="l"/>
              <a:pathLst>
                <a:path h="585216" w="4517136">
                  <a:moveTo>
                    <a:pt x="0" y="0"/>
                  </a:moveTo>
                  <a:lnTo>
                    <a:pt x="4517136" y="0"/>
                  </a:lnTo>
                  <a:lnTo>
                    <a:pt x="451713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400" r="0" b="-10040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4517136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41"/>
                </a:lnSpc>
              </a:pPr>
              <a:r>
                <a:rPr lang="en-US" sz="1395">
                  <a:solidFill>
                    <a:srgbClr val="7480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Obs./recompensas normalizadas, clip ±10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139928" y="2743200"/>
            <a:ext cx="3881628" cy="1810512"/>
            <a:chOff x="0" y="0"/>
            <a:chExt cx="5175504" cy="241401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175504" cy="2414016"/>
            </a:xfrm>
            <a:custGeom>
              <a:avLst/>
              <a:gdLst/>
              <a:ahLst/>
              <a:cxnLst/>
              <a:rect r="r" b="b" t="t" l="l"/>
              <a:pathLst>
                <a:path h="2414016" w="5175504">
                  <a:moveTo>
                    <a:pt x="0" y="0"/>
                  </a:moveTo>
                  <a:lnTo>
                    <a:pt x="5175504" y="0"/>
                  </a:lnTo>
                  <a:lnTo>
                    <a:pt x="5175504" y="2414016"/>
                  </a:lnTo>
                  <a:lnTo>
                    <a:pt x="0" y="241401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3386816" y="2935224"/>
            <a:ext cx="3387852" cy="411480"/>
            <a:chOff x="0" y="0"/>
            <a:chExt cx="4517136" cy="5486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517136" cy="548640"/>
            </a:xfrm>
            <a:custGeom>
              <a:avLst/>
              <a:gdLst/>
              <a:ahLst/>
              <a:cxnLst/>
              <a:rect r="r" b="b" t="t" l="l"/>
              <a:pathLst>
                <a:path h="548640" w="4517136">
                  <a:moveTo>
                    <a:pt x="0" y="0"/>
                  </a:moveTo>
                  <a:lnTo>
                    <a:pt x="4517136" y="0"/>
                  </a:lnTo>
                  <a:lnTo>
                    <a:pt x="451713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426" r="0" b="-110426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28575"/>
              <a:ext cx="4517136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75">
                  <a:solidFill>
                    <a:srgbClr val="3F6E6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LEARNING RATE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3380720" y="2880590"/>
            <a:ext cx="3387852" cy="1535962"/>
            <a:chOff x="0" y="0"/>
            <a:chExt cx="4517136" cy="2047949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517136" cy="2047949"/>
            </a:xfrm>
            <a:custGeom>
              <a:avLst/>
              <a:gdLst/>
              <a:ahLst/>
              <a:cxnLst/>
              <a:rect r="r" b="b" t="t" l="l"/>
              <a:pathLst>
                <a:path h="2047949" w="4517136">
                  <a:moveTo>
                    <a:pt x="0" y="0"/>
                  </a:moveTo>
                  <a:lnTo>
                    <a:pt x="4517136" y="0"/>
                  </a:lnTo>
                  <a:lnTo>
                    <a:pt x="4517136" y="2047949"/>
                  </a:lnTo>
                  <a:lnTo>
                    <a:pt x="0" y="20479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118" r="0" b="39162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4517136" cy="20669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43829"/>
                  </a:solidFill>
                  <a:latin typeface="Cambria"/>
                  <a:ea typeface="Cambria"/>
                  <a:cs typeface="Cambria"/>
                  <a:sym typeface="Cambria"/>
                </a:rPr>
                <a:t>3 × 10⁻⁴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3386816" y="3977640"/>
            <a:ext cx="3387852" cy="438912"/>
            <a:chOff x="0" y="0"/>
            <a:chExt cx="4517136" cy="58521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517136" cy="585216"/>
            </a:xfrm>
            <a:custGeom>
              <a:avLst/>
              <a:gdLst/>
              <a:ahLst/>
              <a:cxnLst/>
              <a:rect r="r" b="b" t="t" l="l"/>
              <a:pathLst>
                <a:path h="585216" w="4517136">
                  <a:moveTo>
                    <a:pt x="0" y="0"/>
                  </a:moveTo>
                  <a:lnTo>
                    <a:pt x="4517136" y="0"/>
                  </a:lnTo>
                  <a:lnTo>
                    <a:pt x="451713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400" r="0" b="-10040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4517136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41"/>
                </a:lnSpc>
              </a:pPr>
              <a:r>
                <a:rPr lang="en-US" sz="1395">
                  <a:solidFill>
                    <a:srgbClr val="7480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Tasa de aprendizaje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60120" y="4718304"/>
            <a:ext cx="3881628" cy="1810512"/>
            <a:chOff x="0" y="0"/>
            <a:chExt cx="5175504" cy="241401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175504" cy="2414016"/>
            </a:xfrm>
            <a:custGeom>
              <a:avLst/>
              <a:gdLst/>
              <a:ahLst/>
              <a:cxnLst/>
              <a:rect r="r" b="b" t="t" l="l"/>
              <a:pathLst>
                <a:path h="2414016" w="5175504">
                  <a:moveTo>
                    <a:pt x="0" y="0"/>
                  </a:moveTo>
                  <a:lnTo>
                    <a:pt x="5175504" y="0"/>
                  </a:lnTo>
                  <a:lnTo>
                    <a:pt x="5175504" y="2414016"/>
                  </a:lnTo>
                  <a:lnTo>
                    <a:pt x="0" y="241401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207008" y="4910328"/>
            <a:ext cx="3387852" cy="411480"/>
            <a:chOff x="0" y="0"/>
            <a:chExt cx="4517136" cy="5486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517136" cy="548640"/>
            </a:xfrm>
            <a:custGeom>
              <a:avLst/>
              <a:gdLst/>
              <a:ahLst/>
              <a:cxnLst/>
              <a:rect r="r" b="b" t="t" l="l"/>
              <a:pathLst>
                <a:path h="548640" w="4517136">
                  <a:moveTo>
                    <a:pt x="0" y="0"/>
                  </a:moveTo>
                  <a:lnTo>
                    <a:pt x="4517136" y="0"/>
                  </a:lnTo>
                  <a:lnTo>
                    <a:pt x="451713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426" r="0" b="-110426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28575"/>
              <a:ext cx="4517136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75">
                  <a:solidFill>
                    <a:srgbClr val="3F6E6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STEPS / BATCH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203579" y="4855579"/>
            <a:ext cx="3387852" cy="1535962"/>
            <a:chOff x="0" y="0"/>
            <a:chExt cx="4517136" cy="2047949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517136" cy="2047949"/>
            </a:xfrm>
            <a:custGeom>
              <a:avLst/>
              <a:gdLst/>
              <a:ahLst/>
              <a:cxnLst/>
              <a:rect r="r" b="b" t="t" l="l"/>
              <a:pathLst>
                <a:path h="2047949" w="4517136">
                  <a:moveTo>
                    <a:pt x="0" y="0"/>
                  </a:moveTo>
                  <a:lnTo>
                    <a:pt x="4517136" y="0"/>
                  </a:lnTo>
                  <a:lnTo>
                    <a:pt x="4517136" y="2047949"/>
                  </a:lnTo>
                  <a:lnTo>
                    <a:pt x="0" y="20479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118" r="0" b="39162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4517136" cy="20669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43829"/>
                  </a:solidFill>
                  <a:latin typeface="Cambria"/>
                  <a:ea typeface="Cambria"/>
                  <a:cs typeface="Cambria"/>
                  <a:sym typeface="Cambria"/>
                </a:rPr>
                <a:t>4096 · batch 256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207008" y="5952744"/>
            <a:ext cx="3387852" cy="438912"/>
            <a:chOff x="0" y="0"/>
            <a:chExt cx="4517136" cy="58521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517136" cy="585216"/>
            </a:xfrm>
            <a:custGeom>
              <a:avLst/>
              <a:gdLst/>
              <a:ahLst/>
              <a:cxnLst/>
              <a:rect r="r" b="b" t="t" l="l"/>
              <a:pathLst>
                <a:path h="585216" w="4517136">
                  <a:moveTo>
                    <a:pt x="0" y="0"/>
                  </a:moveTo>
                  <a:lnTo>
                    <a:pt x="4517136" y="0"/>
                  </a:lnTo>
                  <a:lnTo>
                    <a:pt x="451713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400" r="0" b="-10040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47625"/>
              <a:ext cx="4517136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41"/>
                </a:lnSpc>
              </a:pPr>
              <a:r>
                <a:rPr lang="en-US" sz="1395">
                  <a:solidFill>
                    <a:srgbClr val="7480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Por actualización, entornos paralelos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5020056" y="4718304"/>
            <a:ext cx="3881628" cy="1810512"/>
            <a:chOff x="0" y="0"/>
            <a:chExt cx="5175504" cy="2414016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175504" cy="2414016"/>
            </a:xfrm>
            <a:custGeom>
              <a:avLst/>
              <a:gdLst/>
              <a:ahLst/>
              <a:cxnLst/>
              <a:rect r="r" b="b" t="t" l="l"/>
              <a:pathLst>
                <a:path h="2414016" w="5175504">
                  <a:moveTo>
                    <a:pt x="0" y="0"/>
                  </a:moveTo>
                  <a:lnTo>
                    <a:pt x="5175504" y="0"/>
                  </a:lnTo>
                  <a:lnTo>
                    <a:pt x="5175504" y="2414016"/>
                  </a:lnTo>
                  <a:lnTo>
                    <a:pt x="0" y="241401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5266944" y="4910328"/>
            <a:ext cx="3387852" cy="411480"/>
            <a:chOff x="0" y="0"/>
            <a:chExt cx="4517136" cy="5486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517136" cy="548640"/>
            </a:xfrm>
            <a:custGeom>
              <a:avLst/>
              <a:gdLst/>
              <a:ahLst/>
              <a:cxnLst/>
              <a:rect r="r" b="b" t="t" l="l"/>
              <a:pathLst>
                <a:path h="548640" w="4517136">
                  <a:moveTo>
                    <a:pt x="0" y="0"/>
                  </a:moveTo>
                  <a:lnTo>
                    <a:pt x="4517136" y="0"/>
                  </a:lnTo>
                  <a:lnTo>
                    <a:pt x="451713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426" r="0" b="-110426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28575"/>
              <a:ext cx="4517136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75">
                  <a:solidFill>
                    <a:srgbClr val="3F6E6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ÉPOCAS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5266944" y="4855579"/>
            <a:ext cx="3387852" cy="1535962"/>
            <a:chOff x="0" y="0"/>
            <a:chExt cx="4517136" cy="2047949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517136" cy="2047949"/>
            </a:xfrm>
            <a:custGeom>
              <a:avLst/>
              <a:gdLst/>
              <a:ahLst/>
              <a:cxnLst/>
              <a:rect r="r" b="b" t="t" l="l"/>
              <a:pathLst>
                <a:path h="2047949" w="4517136">
                  <a:moveTo>
                    <a:pt x="0" y="0"/>
                  </a:moveTo>
                  <a:lnTo>
                    <a:pt x="4517136" y="0"/>
                  </a:lnTo>
                  <a:lnTo>
                    <a:pt x="4517136" y="2047949"/>
                  </a:lnTo>
                  <a:lnTo>
                    <a:pt x="0" y="20479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118" r="0" b="39162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19050"/>
              <a:ext cx="4517136" cy="20669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43829"/>
                  </a:solidFill>
                  <a:latin typeface="Cambria"/>
                  <a:ea typeface="Cambria"/>
                  <a:cs typeface="Cambria"/>
                  <a:sym typeface="Cambria"/>
                </a:rPr>
                <a:t>5 (n_epochs)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5266944" y="5952744"/>
            <a:ext cx="3387852" cy="438912"/>
            <a:chOff x="0" y="0"/>
            <a:chExt cx="4517136" cy="585216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517136" cy="585216"/>
            </a:xfrm>
            <a:custGeom>
              <a:avLst/>
              <a:gdLst/>
              <a:ahLst/>
              <a:cxnLst/>
              <a:rect r="r" b="b" t="t" l="l"/>
              <a:pathLst>
                <a:path h="585216" w="4517136">
                  <a:moveTo>
                    <a:pt x="0" y="0"/>
                  </a:moveTo>
                  <a:lnTo>
                    <a:pt x="4517136" y="0"/>
                  </a:lnTo>
                  <a:lnTo>
                    <a:pt x="451713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400" r="0" b="-10040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4517136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41"/>
                </a:lnSpc>
              </a:pPr>
              <a:r>
                <a:rPr lang="en-US" sz="1395">
                  <a:solidFill>
                    <a:srgbClr val="7480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Reducido desde 10 por KL inestable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079992" y="4718304"/>
            <a:ext cx="3881628" cy="1810512"/>
            <a:chOff x="0" y="0"/>
            <a:chExt cx="5175504" cy="2414016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175504" cy="2414016"/>
            </a:xfrm>
            <a:custGeom>
              <a:avLst/>
              <a:gdLst/>
              <a:ahLst/>
              <a:cxnLst/>
              <a:rect r="r" b="b" t="t" l="l"/>
              <a:pathLst>
                <a:path h="2414016" w="5175504">
                  <a:moveTo>
                    <a:pt x="0" y="0"/>
                  </a:moveTo>
                  <a:lnTo>
                    <a:pt x="5175504" y="0"/>
                  </a:lnTo>
                  <a:lnTo>
                    <a:pt x="5175504" y="2414016"/>
                  </a:lnTo>
                  <a:lnTo>
                    <a:pt x="0" y="241401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9326880" y="4910328"/>
            <a:ext cx="3387852" cy="411480"/>
            <a:chOff x="0" y="0"/>
            <a:chExt cx="4517136" cy="54864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4517136" cy="548640"/>
            </a:xfrm>
            <a:custGeom>
              <a:avLst/>
              <a:gdLst/>
              <a:ahLst/>
              <a:cxnLst/>
              <a:rect r="r" b="b" t="t" l="l"/>
              <a:pathLst>
                <a:path h="548640" w="4517136">
                  <a:moveTo>
                    <a:pt x="0" y="0"/>
                  </a:moveTo>
                  <a:lnTo>
                    <a:pt x="4517136" y="0"/>
                  </a:lnTo>
                  <a:lnTo>
                    <a:pt x="451713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426" r="0" b="-110426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28575"/>
              <a:ext cx="4517136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75">
                  <a:solidFill>
                    <a:srgbClr val="3F6E6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ENTROPÍA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9320784" y="4855579"/>
            <a:ext cx="3387852" cy="1535962"/>
            <a:chOff x="0" y="0"/>
            <a:chExt cx="4517136" cy="2047949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4517136" cy="2047949"/>
            </a:xfrm>
            <a:custGeom>
              <a:avLst/>
              <a:gdLst/>
              <a:ahLst/>
              <a:cxnLst/>
              <a:rect r="r" b="b" t="t" l="l"/>
              <a:pathLst>
                <a:path h="2047949" w="4517136">
                  <a:moveTo>
                    <a:pt x="0" y="0"/>
                  </a:moveTo>
                  <a:lnTo>
                    <a:pt x="4517136" y="0"/>
                  </a:lnTo>
                  <a:lnTo>
                    <a:pt x="4517136" y="2047949"/>
                  </a:lnTo>
                  <a:lnTo>
                    <a:pt x="0" y="20479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118" r="0" b="39162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19050"/>
              <a:ext cx="4517136" cy="20669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43829"/>
                  </a:solidFill>
                  <a:latin typeface="Cambria"/>
                  <a:ea typeface="Cambria"/>
                  <a:cs typeface="Cambria"/>
                  <a:sym typeface="Cambria"/>
                </a:rPr>
                <a:t>c₂ = 0.01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9326880" y="5952744"/>
            <a:ext cx="3387852" cy="438912"/>
            <a:chOff x="0" y="0"/>
            <a:chExt cx="4517136" cy="585216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4517136" cy="585216"/>
            </a:xfrm>
            <a:custGeom>
              <a:avLst/>
              <a:gdLst/>
              <a:ahLst/>
              <a:cxnLst/>
              <a:rect r="r" b="b" t="t" l="l"/>
              <a:pathLst>
                <a:path h="585216" w="4517136">
                  <a:moveTo>
                    <a:pt x="0" y="0"/>
                  </a:moveTo>
                  <a:lnTo>
                    <a:pt x="4517136" y="0"/>
                  </a:lnTo>
                  <a:lnTo>
                    <a:pt x="451713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400" r="0" b="-10040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47625"/>
              <a:ext cx="4517136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41"/>
                </a:lnSpc>
              </a:pPr>
              <a:r>
                <a:rPr lang="en-US" sz="1395">
                  <a:solidFill>
                    <a:srgbClr val="7480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Incentiva exploración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3139928" y="4718304"/>
            <a:ext cx="3881628" cy="1810512"/>
            <a:chOff x="0" y="0"/>
            <a:chExt cx="5175504" cy="2414016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5175504" cy="2414016"/>
            </a:xfrm>
            <a:custGeom>
              <a:avLst/>
              <a:gdLst/>
              <a:ahLst/>
              <a:cxnLst/>
              <a:rect r="r" b="b" t="t" l="l"/>
              <a:pathLst>
                <a:path h="2414016" w="5175504">
                  <a:moveTo>
                    <a:pt x="0" y="0"/>
                  </a:moveTo>
                  <a:lnTo>
                    <a:pt x="5175504" y="0"/>
                  </a:lnTo>
                  <a:lnTo>
                    <a:pt x="5175504" y="2414016"/>
                  </a:lnTo>
                  <a:lnTo>
                    <a:pt x="0" y="241401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3386816" y="4910328"/>
            <a:ext cx="3387852" cy="411480"/>
            <a:chOff x="0" y="0"/>
            <a:chExt cx="4517136" cy="54864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4517136" cy="548640"/>
            </a:xfrm>
            <a:custGeom>
              <a:avLst/>
              <a:gdLst/>
              <a:ahLst/>
              <a:cxnLst/>
              <a:rect r="r" b="b" t="t" l="l"/>
              <a:pathLst>
                <a:path h="548640" w="4517136">
                  <a:moveTo>
                    <a:pt x="0" y="0"/>
                  </a:moveTo>
                  <a:lnTo>
                    <a:pt x="4517136" y="0"/>
                  </a:lnTo>
                  <a:lnTo>
                    <a:pt x="451713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426" r="0" b="-110426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28575"/>
              <a:ext cx="4517136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75">
                  <a:solidFill>
                    <a:srgbClr val="3F6E6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CLIP PPO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3390245" y="4855579"/>
            <a:ext cx="3387852" cy="1535962"/>
            <a:chOff x="0" y="0"/>
            <a:chExt cx="4517136" cy="2047949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4517136" cy="2047949"/>
            </a:xfrm>
            <a:custGeom>
              <a:avLst/>
              <a:gdLst/>
              <a:ahLst/>
              <a:cxnLst/>
              <a:rect r="r" b="b" t="t" l="l"/>
              <a:pathLst>
                <a:path h="2047949" w="4517136">
                  <a:moveTo>
                    <a:pt x="0" y="0"/>
                  </a:moveTo>
                  <a:lnTo>
                    <a:pt x="4517136" y="0"/>
                  </a:lnTo>
                  <a:lnTo>
                    <a:pt x="4517136" y="2047949"/>
                  </a:lnTo>
                  <a:lnTo>
                    <a:pt x="0" y="20479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118" r="0" b="39162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19050"/>
              <a:ext cx="4517136" cy="20669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43829"/>
                  </a:solidFill>
                  <a:latin typeface="Cambria"/>
                  <a:ea typeface="Cambria"/>
                  <a:cs typeface="Cambria"/>
                  <a:sym typeface="Cambria"/>
                </a:rPr>
                <a:t>ε = 0.2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3386816" y="5952744"/>
            <a:ext cx="3387852" cy="438912"/>
            <a:chOff x="0" y="0"/>
            <a:chExt cx="4517136" cy="585216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4517136" cy="585216"/>
            </a:xfrm>
            <a:custGeom>
              <a:avLst/>
              <a:gdLst/>
              <a:ahLst/>
              <a:cxnLst/>
              <a:rect r="r" b="b" t="t" l="l"/>
              <a:pathLst>
                <a:path h="585216" w="4517136">
                  <a:moveTo>
                    <a:pt x="0" y="0"/>
                  </a:moveTo>
                  <a:lnTo>
                    <a:pt x="4517136" y="0"/>
                  </a:lnTo>
                  <a:lnTo>
                    <a:pt x="451713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400" r="0" b="-100400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47625"/>
              <a:ext cx="4517136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41"/>
                </a:lnSpc>
              </a:pPr>
              <a:r>
                <a:rPr lang="en-US" sz="1395">
                  <a:solidFill>
                    <a:srgbClr val="7480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Valor estándar del trabajo original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960120" y="6871716"/>
            <a:ext cx="16322040" cy="2660904"/>
            <a:chOff x="0" y="0"/>
            <a:chExt cx="21762720" cy="3547872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1762720" cy="3547872"/>
            </a:xfrm>
            <a:custGeom>
              <a:avLst/>
              <a:gdLst/>
              <a:ahLst/>
              <a:cxnLst/>
              <a:rect r="r" b="b" t="t" l="l"/>
              <a:pathLst>
                <a:path h="3547872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3547872"/>
                  </a:lnTo>
                  <a:lnTo>
                    <a:pt x="0" y="3547872"/>
                  </a:lnTo>
                  <a:close/>
                </a:path>
              </a:pathLst>
            </a:custGeom>
            <a:solidFill>
              <a:srgbClr val="414535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303020" y="6890766"/>
            <a:ext cx="4526280" cy="1897531"/>
            <a:chOff x="0" y="0"/>
            <a:chExt cx="6035040" cy="2530041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6035040" cy="2530041"/>
            </a:xfrm>
            <a:custGeom>
              <a:avLst/>
              <a:gdLst/>
              <a:ahLst/>
              <a:cxnLst/>
              <a:rect r="r" b="b" t="t" l="l"/>
              <a:pathLst>
                <a:path h="2530041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2530041"/>
                  </a:lnTo>
                  <a:lnTo>
                    <a:pt x="0" y="25300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72" r="0" b="26415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47625"/>
              <a:ext cx="6035040" cy="25776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97"/>
                </a:lnSpc>
              </a:pPr>
              <a:r>
                <a:rPr lang="en-US" sz="2100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Resultados de hiperparámetros inestables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303020" y="8037576"/>
            <a:ext cx="4526280" cy="1289304"/>
            <a:chOff x="0" y="0"/>
            <a:chExt cx="6035040" cy="1719072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6035040" cy="1719072"/>
            </a:xfrm>
            <a:custGeom>
              <a:avLst/>
              <a:gdLst/>
              <a:ahLst/>
              <a:cxnLst/>
              <a:rect r="r" b="b" t="t" l="l"/>
              <a:pathLst>
                <a:path h="1719072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1719072"/>
                  </a:lnTo>
                  <a:lnTo>
                    <a:pt x="0" y="17190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404" r="0" b="-18404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57150"/>
              <a:ext cx="6035040" cy="17762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i="true">
                  <a:solidFill>
                    <a:srgbClr val="C3CBB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La política se actualiza de forma demasiado agresiva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1820906" y="6975062"/>
            <a:ext cx="4445508" cy="2222754"/>
            <a:chOff x="0" y="0"/>
            <a:chExt cx="5266944" cy="2633472"/>
          </a:xfrm>
        </p:grpSpPr>
        <p:sp>
          <p:nvSpPr>
            <p:cNvPr name="Freeform 108" id="108" descr="figs/fig1a_success.png"/>
            <p:cNvSpPr/>
            <p:nvPr/>
          </p:nvSpPr>
          <p:spPr>
            <a:xfrm flipH="false" flipV="false" rot="0">
              <a:off x="0" y="0"/>
              <a:ext cx="5266944" cy="2633472"/>
            </a:xfrm>
            <a:custGeom>
              <a:avLst/>
              <a:gdLst/>
              <a:ahLst/>
              <a:cxnLst/>
              <a:rect r="r" b="b" t="t" l="l"/>
              <a:pathLst>
                <a:path h="2633472" w="5266944">
                  <a:moveTo>
                    <a:pt x="0" y="0"/>
                  </a:moveTo>
                  <a:lnTo>
                    <a:pt x="5266944" y="0"/>
                  </a:lnTo>
                  <a:lnTo>
                    <a:pt x="5266944" y="2633472"/>
                  </a:lnTo>
                  <a:lnTo>
                    <a:pt x="0" y="26334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12068556" y="9134856"/>
            <a:ext cx="3950208" cy="384048"/>
            <a:chOff x="0" y="0"/>
            <a:chExt cx="5266944" cy="512064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5266944" cy="512064"/>
            </a:xfrm>
            <a:custGeom>
              <a:avLst/>
              <a:gdLst/>
              <a:ahLst/>
              <a:cxnLst/>
              <a:rect r="r" b="b" t="t" l="l"/>
              <a:pathLst>
                <a:path h="512064" w="5266944">
                  <a:moveTo>
                    <a:pt x="0" y="0"/>
                  </a:moveTo>
                  <a:lnTo>
                    <a:pt x="5266944" y="0"/>
                  </a:lnTo>
                  <a:lnTo>
                    <a:pt x="5266944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417" r="0" b="-150417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28575"/>
              <a:ext cx="5266944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i="true">
                  <a:solidFill>
                    <a:srgbClr val="9AA48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Tasa de éxito decreciente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6617208" y="6983158"/>
            <a:ext cx="4413123" cy="2206562"/>
            <a:chOff x="0" y="0"/>
            <a:chExt cx="5266944" cy="2633472"/>
          </a:xfrm>
        </p:grpSpPr>
        <p:sp>
          <p:nvSpPr>
            <p:cNvPr name="Freeform 113" id="113" descr="figs/fig1b_kl.png"/>
            <p:cNvSpPr/>
            <p:nvPr/>
          </p:nvSpPr>
          <p:spPr>
            <a:xfrm flipH="false" flipV="false" rot="0">
              <a:off x="0" y="0"/>
              <a:ext cx="5266944" cy="2633472"/>
            </a:xfrm>
            <a:custGeom>
              <a:avLst/>
              <a:gdLst/>
              <a:ahLst/>
              <a:cxnLst/>
              <a:rect r="r" b="b" t="t" l="l"/>
              <a:pathLst>
                <a:path h="2633472" w="5266944">
                  <a:moveTo>
                    <a:pt x="0" y="0"/>
                  </a:moveTo>
                  <a:lnTo>
                    <a:pt x="5266944" y="0"/>
                  </a:lnTo>
                  <a:lnTo>
                    <a:pt x="5266944" y="2633472"/>
                  </a:lnTo>
                  <a:lnTo>
                    <a:pt x="0" y="26334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6848665" y="9134856"/>
            <a:ext cx="3950208" cy="384048"/>
            <a:chOff x="0" y="0"/>
            <a:chExt cx="5266944" cy="512064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5266944" cy="512064"/>
            </a:xfrm>
            <a:custGeom>
              <a:avLst/>
              <a:gdLst/>
              <a:ahLst/>
              <a:cxnLst/>
              <a:rect r="r" b="b" t="t" l="l"/>
              <a:pathLst>
                <a:path h="512064" w="5266944">
                  <a:moveTo>
                    <a:pt x="0" y="0"/>
                  </a:moveTo>
                  <a:lnTo>
                    <a:pt x="5266944" y="0"/>
                  </a:lnTo>
                  <a:lnTo>
                    <a:pt x="5266944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417" r="0" b="-150417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28575"/>
              <a:ext cx="5266944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i="true">
                  <a:solidFill>
                    <a:srgbClr val="9AA48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Divergencia KL creciente con picos altos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17327423" y="9601200"/>
            <a:ext cx="548640" cy="411480"/>
            <a:chOff x="0" y="0"/>
            <a:chExt cx="731520" cy="54864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A9A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</a:t>
              </a:r>
            </a:p>
          </p:txBody>
        </p:sp>
      </p:grpSp>
      <p:sp>
        <p:nvSpPr>
          <p:cNvPr name="Freeform 120" id="120"/>
          <p:cNvSpPr/>
          <p:nvPr/>
        </p:nvSpPr>
        <p:spPr>
          <a:xfrm flipH="false" flipV="false" rot="0">
            <a:off x="16893510" y="-363107"/>
            <a:ext cx="867826" cy="867826"/>
          </a:xfrm>
          <a:custGeom>
            <a:avLst/>
            <a:gdLst/>
            <a:ahLst/>
            <a:cxnLst/>
            <a:rect r="r" b="b" t="t" l="l"/>
            <a:pathLst>
              <a:path h="867826" w="867826">
                <a:moveTo>
                  <a:pt x="0" y="0"/>
                </a:moveTo>
                <a:lnTo>
                  <a:pt x="867826" y="0"/>
                </a:lnTo>
                <a:lnTo>
                  <a:pt x="867826" y="867826"/>
                </a:lnTo>
                <a:lnTo>
                  <a:pt x="0" y="8678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1" id="121"/>
          <p:cNvSpPr/>
          <p:nvPr/>
        </p:nvSpPr>
        <p:spPr>
          <a:xfrm flipH="false" flipV="false" rot="0">
            <a:off x="15119689" y="-34616"/>
            <a:ext cx="3373965" cy="2941265"/>
          </a:xfrm>
          <a:custGeom>
            <a:avLst/>
            <a:gdLst/>
            <a:ahLst/>
            <a:cxnLst/>
            <a:rect r="r" b="b" t="t" l="l"/>
            <a:pathLst>
              <a:path h="2941265" w="3373965">
                <a:moveTo>
                  <a:pt x="0" y="0"/>
                </a:moveTo>
                <a:lnTo>
                  <a:pt x="3373966" y="0"/>
                </a:lnTo>
                <a:lnTo>
                  <a:pt x="3373966" y="2941265"/>
                </a:lnTo>
                <a:lnTo>
                  <a:pt x="0" y="294126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3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754380"/>
            <a:ext cx="9601200" cy="480060"/>
            <a:chOff x="0" y="0"/>
            <a:chExt cx="128016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01600" cy="640080"/>
            </a:xfrm>
            <a:custGeom>
              <a:avLst/>
              <a:gdLst/>
              <a:ahLst/>
              <a:cxnLst/>
              <a:rect r="r" b="b" t="t" l="l"/>
              <a:pathLst>
                <a:path h="64008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016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3F6E6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DESARROLLO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379515"/>
            <a:ext cx="11646942" cy="3081449"/>
            <a:chOff x="0" y="0"/>
            <a:chExt cx="15529256" cy="410859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529257" cy="4108599"/>
            </a:xfrm>
            <a:custGeom>
              <a:avLst/>
              <a:gdLst/>
              <a:ahLst/>
              <a:cxnLst/>
              <a:rect r="r" b="b" t="t" l="l"/>
              <a:pathLst>
                <a:path h="4108599" w="15529257">
                  <a:moveTo>
                    <a:pt x="0" y="0"/>
                  </a:moveTo>
                  <a:lnTo>
                    <a:pt x="15529257" y="0"/>
                  </a:lnTo>
                  <a:lnTo>
                    <a:pt x="15529257" y="4108599"/>
                  </a:lnTo>
                  <a:lnTo>
                    <a:pt x="0" y="41085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179" r="-40140" b="-2323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5529256" cy="41181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34382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Hiperparámetros de entrenamiento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2194560"/>
            <a:ext cx="16322040" cy="548640"/>
            <a:chOff x="0" y="0"/>
            <a:chExt cx="2176272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762720" cy="731520"/>
            </a:xfrm>
            <a:custGeom>
              <a:avLst/>
              <a:gdLst/>
              <a:ahLst/>
              <a:cxnLst/>
              <a:rect r="r" b="b" t="t" l="l"/>
              <a:pathLst>
                <a:path h="7315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9679" r="0" b="-52967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17627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i="true">
                  <a:solidFill>
                    <a:srgbClr val="74806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PPO implementado con Stable-Baselines3.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42211" y="3104343"/>
            <a:ext cx="5086073" cy="6697263"/>
            <a:chOff x="0" y="0"/>
            <a:chExt cx="6781431" cy="892968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781430" cy="8929684"/>
            </a:xfrm>
            <a:custGeom>
              <a:avLst/>
              <a:gdLst/>
              <a:ahLst/>
              <a:cxnLst/>
              <a:rect r="r" b="b" t="t" l="l"/>
              <a:pathLst>
                <a:path h="8929684" w="6781430">
                  <a:moveTo>
                    <a:pt x="0" y="0"/>
                  </a:moveTo>
                  <a:lnTo>
                    <a:pt x="6781430" y="0"/>
                  </a:lnTo>
                  <a:lnTo>
                    <a:pt x="6781430" y="8929684"/>
                  </a:lnTo>
                  <a:lnTo>
                    <a:pt x="0" y="8929684"/>
                  </a:lnTo>
                  <a:close/>
                </a:path>
              </a:pathLst>
            </a:custGeom>
            <a:solidFill>
              <a:srgbClr val="414535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266804" y="2695575"/>
            <a:ext cx="3236888" cy="1535581"/>
            <a:chOff x="0" y="0"/>
            <a:chExt cx="4315850" cy="204744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315850" cy="2047441"/>
            </a:xfrm>
            <a:custGeom>
              <a:avLst/>
              <a:gdLst/>
              <a:ahLst/>
              <a:cxnLst/>
              <a:rect r="r" b="b" t="t" l="l"/>
              <a:pathLst>
                <a:path h="2047441" w="4315850">
                  <a:moveTo>
                    <a:pt x="0" y="0"/>
                  </a:moveTo>
                  <a:lnTo>
                    <a:pt x="4315850" y="0"/>
                  </a:lnTo>
                  <a:lnTo>
                    <a:pt x="4315850" y="2047441"/>
                  </a:lnTo>
                  <a:lnTo>
                    <a:pt x="0" y="2047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38" r="-39834" b="907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4315850" cy="20950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97"/>
                </a:lnSpc>
              </a:pPr>
              <a:r>
                <a:rPr lang="en-US" sz="2100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Hiperparámetros inestables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78686" y="4147575"/>
            <a:ext cx="4413123" cy="2206562"/>
            <a:chOff x="0" y="0"/>
            <a:chExt cx="5266944" cy="2633472"/>
          </a:xfrm>
        </p:grpSpPr>
        <p:sp>
          <p:nvSpPr>
            <p:cNvPr name="Freeform 17" id="17" descr="figs/fig1a_success.png"/>
            <p:cNvSpPr/>
            <p:nvPr/>
          </p:nvSpPr>
          <p:spPr>
            <a:xfrm flipH="false" flipV="false" rot="0">
              <a:off x="0" y="0"/>
              <a:ext cx="5266944" cy="2633472"/>
            </a:xfrm>
            <a:custGeom>
              <a:avLst/>
              <a:gdLst/>
              <a:ahLst/>
              <a:cxnLst/>
              <a:rect r="r" b="b" t="t" l="l"/>
              <a:pathLst>
                <a:path h="2633472" w="5266944">
                  <a:moveTo>
                    <a:pt x="0" y="0"/>
                  </a:moveTo>
                  <a:lnTo>
                    <a:pt x="5266944" y="0"/>
                  </a:lnTo>
                  <a:lnTo>
                    <a:pt x="5266944" y="2633472"/>
                  </a:lnTo>
                  <a:lnTo>
                    <a:pt x="0" y="26334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678686" y="6903014"/>
            <a:ext cx="4413123" cy="2206562"/>
            <a:chOff x="0" y="0"/>
            <a:chExt cx="5266944" cy="2633472"/>
          </a:xfrm>
        </p:grpSpPr>
        <p:sp>
          <p:nvSpPr>
            <p:cNvPr name="Freeform 19" id="19" descr="figs/fig1b_kl.png"/>
            <p:cNvSpPr/>
            <p:nvPr/>
          </p:nvSpPr>
          <p:spPr>
            <a:xfrm flipH="false" flipV="false" rot="0">
              <a:off x="0" y="0"/>
              <a:ext cx="5266944" cy="2633472"/>
            </a:xfrm>
            <a:custGeom>
              <a:avLst/>
              <a:gdLst/>
              <a:ahLst/>
              <a:cxnLst/>
              <a:rect r="r" b="b" t="t" l="l"/>
              <a:pathLst>
                <a:path h="2633472" w="5266944">
                  <a:moveTo>
                    <a:pt x="0" y="0"/>
                  </a:moveTo>
                  <a:lnTo>
                    <a:pt x="5266944" y="0"/>
                  </a:lnTo>
                  <a:lnTo>
                    <a:pt x="5266944" y="2633472"/>
                  </a:lnTo>
                  <a:lnTo>
                    <a:pt x="0" y="26334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619832" y="3104343"/>
            <a:ext cx="8506118" cy="6697263"/>
            <a:chOff x="0" y="0"/>
            <a:chExt cx="11162550" cy="878879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162550" cy="8788795"/>
            </a:xfrm>
            <a:custGeom>
              <a:avLst/>
              <a:gdLst/>
              <a:ahLst/>
              <a:cxnLst/>
              <a:rect r="r" b="b" t="t" l="l"/>
              <a:pathLst>
                <a:path h="8788795" w="11162550">
                  <a:moveTo>
                    <a:pt x="0" y="0"/>
                  </a:moveTo>
                  <a:lnTo>
                    <a:pt x="11162550" y="0"/>
                  </a:lnTo>
                  <a:lnTo>
                    <a:pt x="11162550" y="8788795"/>
                  </a:lnTo>
                  <a:lnTo>
                    <a:pt x="0" y="8788795"/>
                  </a:lnTo>
                  <a:close/>
                </a:path>
              </a:pathLst>
            </a:custGeom>
            <a:solidFill>
              <a:srgbClr val="414535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345546" y="2695575"/>
            <a:ext cx="3236888" cy="1535581"/>
            <a:chOff x="0" y="0"/>
            <a:chExt cx="4315850" cy="204744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315850" cy="2047441"/>
            </a:xfrm>
            <a:custGeom>
              <a:avLst/>
              <a:gdLst/>
              <a:ahLst/>
              <a:cxnLst/>
              <a:rect r="r" b="b" t="t" l="l"/>
              <a:pathLst>
                <a:path h="2047441" w="4315850">
                  <a:moveTo>
                    <a:pt x="0" y="0"/>
                  </a:moveTo>
                  <a:lnTo>
                    <a:pt x="4315850" y="0"/>
                  </a:lnTo>
                  <a:lnTo>
                    <a:pt x="4315850" y="2047441"/>
                  </a:lnTo>
                  <a:lnTo>
                    <a:pt x="0" y="2047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38" r="-39834" b="907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4315850" cy="20950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97"/>
                </a:lnSpc>
              </a:pPr>
              <a:r>
                <a:rPr lang="en-US" sz="2100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Hiperparámetros estables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9042372" y="3763684"/>
            <a:ext cx="7661038" cy="5745779"/>
          </a:xfrm>
          <a:custGeom>
            <a:avLst/>
            <a:gdLst/>
            <a:ahLst/>
            <a:cxnLst/>
            <a:rect r="r" b="b" t="t" l="l"/>
            <a:pathLst>
              <a:path h="5745779" w="7661038">
                <a:moveTo>
                  <a:pt x="0" y="0"/>
                </a:moveTo>
                <a:lnTo>
                  <a:pt x="7661038" y="0"/>
                </a:lnTo>
                <a:lnTo>
                  <a:pt x="7661038" y="5745779"/>
                </a:lnTo>
                <a:lnTo>
                  <a:pt x="0" y="57457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17327423" y="9601200"/>
            <a:ext cx="548640" cy="411480"/>
            <a:chOff x="0" y="0"/>
            <a:chExt cx="731520" cy="5486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A9A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302003" y="2854428"/>
            <a:ext cx="1316233" cy="1482968"/>
            <a:chOff x="0" y="0"/>
            <a:chExt cx="1785501" cy="20116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785501" cy="2011680"/>
            </a:xfrm>
            <a:custGeom>
              <a:avLst/>
              <a:gdLst/>
              <a:ahLst/>
              <a:cxnLst/>
              <a:rect r="r" b="b" t="t" l="l"/>
              <a:pathLst>
                <a:path h="2011680" w="1785501">
                  <a:moveTo>
                    <a:pt x="0" y="1005840"/>
                  </a:moveTo>
                  <a:cubicBezTo>
                    <a:pt x="0" y="450342"/>
                    <a:pt x="399709" y="0"/>
                    <a:pt x="892750" y="0"/>
                  </a:cubicBezTo>
                  <a:cubicBezTo>
                    <a:pt x="1385792" y="0"/>
                    <a:pt x="1785501" y="450342"/>
                    <a:pt x="1785501" y="1005840"/>
                  </a:cubicBezTo>
                  <a:cubicBezTo>
                    <a:pt x="1785501" y="1561338"/>
                    <a:pt x="1385792" y="2011680"/>
                    <a:pt x="892750" y="2011680"/>
                  </a:cubicBezTo>
                  <a:cubicBezTo>
                    <a:pt x="399709" y="2011680"/>
                    <a:pt x="0" y="1561338"/>
                    <a:pt x="0" y="1005840"/>
                  </a:cubicBezTo>
                  <a:close/>
                </a:path>
              </a:pathLst>
            </a:custGeom>
            <a:blipFill>
              <a:blip r:embed="rId7"/>
              <a:stretch>
                <a:fillRect l="-6333" t="0" r="-6333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6601183" y="2001716"/>
            <a:ext cx="1316233" cy="1482968"/>
            <a:chOff x="0" y="0"/>
            <a:chExt cx="1785501" cy="20116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785501" cy="2011680"/>
            </a:xfrm>
            <a:custGeom>
              <a:avLst/>
              <a:gdLst/>
              <a:ahLst/>
              <a:cxnLst/>
              <a:rect r="r" b="b" t="t" l="l"/>
              <a:pathLst>
                <a:path h="2011680" w="1785501">
                  <a:moveTo>
                    <a:pt x="0" y="1005840"/>
                  </a:moveTo>
                  <a:cubicBezTo>
                    <a:pt x="0" y="450342"/>
                    <a:pt x="399709" y="0"/>
                    <a:pt x="892750" y="0"/>
                  </a:cubicBezTo>
                  <a:cubicBezTo>
                    <a:pt x="1385792" y="0"/>
                    <a:pt x="1785501" y="450342"/>
                    <a:pt x="1785501" y="1005840"/>
                  </a:cubicBezTo>
                  <a:cubicBezTo>
                    <a:pt x="1785501" y="1561338"/>
                    <a:pt x="1385792" y="2011680"/>
                    <a:pt x="892750" y="2011680"/>
                  </a:cubicBezTo>
                  <a:cubicBezTo>
                    <a:pt x="399709" y="2011680"/>
                    <a:pt x="0" y="1561338"/>
                    <a:pt x="0" y="1005840"/>
                  </a:cubicBezTo>
                  <a:close/>
                </a:path>
              </a:pathLst>
            </a:custGeom>
            <a:blipFill>
              <a:blip r:embed="rId7"/>
              <a:stretch>
                <a:fillRect l="-6333" t="0" r="-6333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3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754380"/>
            <a:ext cx="9601200" cy="480060"/>
            <a:chOff x="0" y="0"/>
            <a:chExt cx="128016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01600" cy="640080"/>
            </a:xfrm>
            <a:custGeom>
              <a:avLst/>
              <a:gdLst/>
              <a:ahLst/>
              <a:cxnLst/>
              <a:rect r="r" b="b" t="t" l="l"/>
              <a:pathLst>
                <a:path h="64008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016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3F6E6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DESARROLLO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303020"/>
            <a:ext cx="16322040" cy="1234440"/>
            <a:chOff x="0" y="0"/>
            <a:chExt cx="2176272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627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7635" r="0" b="-20763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76272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34382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Términos de recompensa evaluados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2812046"/>
            <a:ext cx="3977640" cy="3497580"/>
            <a:chOff x="0" y="0"/>
            <a:chExt cx="5303520" cy="46634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03520" cy="4663440"/>
            </a:xfrm>
            <a:custGeom>
              <a:avLst/>
              <a:gdLst/>
              <a:ahLst/>
              <a:cxnLst/>
              <a:rect r="r" b="b" t="t" l="l"/>
              <a:pathLst>
                <a:path h="466344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4663440"/>
                  </a:lnTo>
                  <a:lnTo>
                    <a:pt x="0" y="46634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34440" y="3161423"/>
            <a:ext cx="219456" cy="219456"/>
            <a:chOff x="0" y="0"/>
            <a:chExt cx="292608" cy="2926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618985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34440" y="3703586"/>
            <a:ext cx="3429000" cy="822960"/>
            <a:chOff x="0" y="0"/>
            <a:chExt cx="4572000" cy="10972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572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414535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212080" y="2812046"/>
            <a:ext cx="3977640" cy="3497580"/>
            <a:chOff x="0" y="0"/>
            <a:chExt cx="5303520" cy="46634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303520" cy="4663440"/>
            </a:xfrm>
            <a:custGeom>
              <a:avLst/>
              <a:gdLst/>
              <a:ahLst/>
              <a:cxnLst/>
              <a:rect r="r" b="b" t="t" l="l"/>
              <a:pathLst>
                <a:path h="466344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4663440"/>
                  </a:lnTo>
                  <a:lnTo>
                    <a:pt x="0" y="46634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5486400" y="3161423"/>
            <a:ext cx="219456" cy="219456"/>
            <a:chOff x="0" y="0"/>
            <a:chExt cx="292608" cy="29260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B98C64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67053" y="2537460"/>
            <a:ext cx="3044952" cy="1535962"/>
            <a:chOff x="0" y="0"/>
            <a:chExt cx="4059936" cy="204794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059936" cy="2047949"/>
            </a:xfrm>
            <a:custGeom>
              <a:avLst/>
              <a:gdLst/>
              <a:ahLst/>
              <a:cxnLst/>
              <a:rect r="r" b="b" t="t" l="l"/>
              <a:pathLst>
                <a:path h="2047949" w="4059936">
                  <a:moveTo>
                    <a:pt x="0" y="0"/>
                  </a:moveTo>
                  <a:lnTo>
                    <a:pt x="4059936" y="0"/>
                  </a:lnTo>
                  <a:lnTo>
                    <a:pt x="4059936" y="2047949"/>
                  </a:lnTo>
                  <a:lnTo>
                    <a:pt x="0" y="20479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768" r="0" b="4351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4059936" cy="20669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43829"/>
                  </a:solidFill>
                  <a:latin typeface="Cambria"/>
                  <a:ea typeface="Cambria"/>
                  <a:cs typeface="Cambria"/>
                  <a:sym typeface="Cambria"/>
                </a:rPr>
                <a:t>Penalización angular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486400" y="3703586"/>
            <a:ext cx="3429000" cy="822960"/>
            <a:chOff x="0" y="0"/>
            <a:chExt cx="4572000" cy="10972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572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414535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87399" y="4754026"/>
            <a:ext cx="3429000" cy="1440180"/>
            <a:chOff x="0" y="0"/>
            <a:chExt cx="4572000" cy="19202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572000" cy="1920240"/>
            </a:xfrm>
            <a:custGeom>
              <a:avLst/>
              <a:gdLst/>
              <a:ahLst/>
              <a:cxnLst/>
              <a:rect r="r" b="b" t="t" l="l"/>
              <a:pathLst>
                <a:path h="192024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887" t="0" r="-3887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76200"/>
              <a:ext cx="4572000" cy="1996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24"/>
                </a:lnSpc>
              </a:pPr>
              <a:r>
                <a:rPr lang="en-US" sz="1545">
                  <a:solidFill>
                    <a:srgbClr val="7480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Favorece trayectorias suaves. Valores altos pueden reducir el success rate sin cambiar mucho el comportamiento.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486728" y="4760961"/>
            <a:ext cx="3429000" cy="1440180"/>
            <a:chOff x="0" y="0"/>
            <a:chExt cx="4572000" cy="19202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572000" cy="1920240"/>
            </a:xfrm>
            <a:custGeom>
              <a:avLst/>
              <a:gdLst/>
              <a:ahLst/>
              <a:cxnLst/>
              <a:rect r="r" b="b" t="t" l="l"/>
              <a:pathLst>
                <a:path h="192024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887" t="0" r="-3887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76200"/>
              <a:ext cx="4572000" cy="1996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24"/>
                </a:lnSpc>
              </a:pPr>
              <a:r>
                <a:rPr lang="en-US" sz="1545">
                  <a:solidFill>
                    <a:srgbClr val="7480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Basado en Rodriguez-Ramos et al. (2019). Premia la mejora instantánea; no reemplaza a la distancia absoluta ni la supera combinada con ella.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464040" y="2812046"/>
            <a:ext cx="3977640" cy="3497580"/>
            <a:chOff x="0" y="0"/>
            <a:chExt cx="5303520" cy="46634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303520" cy="4663440"/>
            </a:xfrm>
            <a:custGeom>
              <a:avLst/>
              <a:gdLst/>
              <a:ahLst/>
              <a:cxnLst/>
              <a:rect r="r" b="b" t="t" l="l"/>
              <a:pathLst>
                <a:path h="466344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4663440"/>
                  </a:lnTo>
                  <a:lnTo>
                    <a:pt x="0" y="46634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738360" y="3161423"/>
            <a:ext cx="219456" cy="219456"/>
            <a:chOff x="0" y="0"/>
            <a:chExt cx="292608" cy="29260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618985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0067544" y="2503170"/>
            <a:ext cx="3044952" cy="1535962"/>
            <a:chOff x="0" y="0"/>
            <a:chExt cx="4059936" cy="204794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059936" cy="2047949"/>
            </a:xfrm>
            <a:custGeom>
              <a:avLst/>
              <a:gdLst/>
              <a:ahLst/>
              <a:cxnLst/>
              <a:rect r="r" b="b" t="t" l="l"/>
              <a:pathLst>
                <a:path h="2047949" w="4059936">
                  <a:moveTo>
                    <a:pt x="0" y="0"/>
                  </a:moveTo>
                  <a:lnTo>
                    <a:pt x="4059936" y="0"/>
                  </a:lnTo>
                  <a:lnTo>
                    <a:pt x="4059936" y="2047949"/>
                  </a:lnTo>
                  <a:lnTo>
                    <a:pt x="0" y="20479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768" r="0" b="43512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4059936" cy="20669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43829"/>
                  </a:solidFill>
                  <a:latin typeface="Cambria"/>
                  <a:ea typeface="Cambria"/>
                  <a:cs typeface="Cambria"/>
                  <a:sym typeface="Cambria"/>
                </a:rPr>
                <a:t>Contacto (kt)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738360" y="3703586"/>
            <a:ext cx="3429000" cy="822960"/>
            <a:chOff x="0" y="0"/>
            <a:chExt cx="4572000" cy="10972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572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414535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738360" y="4663706"/>
            <a:ext cx="3429000" cy="1440180"/>
            <a:chOff x="0" y="0"/>
            <a:chExt cx="4572000" cy="19202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572000" cy="1920240"/>
            </a:xfrm>
            <a:custGeom>
              <a:avLst/>
              <a:gdLst/>
              <a:ahLst/>
              <a:cxnLst/>
              <a:rect r="r" b="b" t="t" l="l"/>
              <a:pathLst>
                <a:path h="192024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887" t="0" r="-3887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76200"/>
              <a:ext cx="4572000" cy="1996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24"/>
                </a:lnSpc>
              </a:pPr>
              <a:r>
                <a:rPr lang="en-US" sz="1545">
                  <a:solidFill>
                    <a:srgbClr val="7480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Premia tocar la plataforma para que el aterrizaje se aprenda de forma más directa, no solo por reducir distancia.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3716000" y="2812046"/>
            <a:ext cx="3977640" cy="3497580"/>
            <a:chOff x="0" y="0"/>
            <a:chExt cx="5303520" cy="46634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303520" cy="4663440"/>
            </a:xfrm>
            <a:custGeom>
              <a:avLst/>
              <a:gdLst/>
              <a:ahLst/>
              <a:cxnLst/>
              <a:rect r="r" b="b" t="t" l="l"/>
              <a:pathLst>
                <a:path h="466344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4663440"/>
                  </a:lnTo>
                  <a:lnTo>
                    <a:pt x="0" y="46634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3990320" y="3161423"/>
            <a:ext cx="219456" cy="219456"/>
            <a:chOff x="0" y="0"/>
            <a:chExt cx="292608" cy="29260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B98C64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4374368" y="2503170"/>
            <a:ext cx="3044952" cy="1535962"/>
            <a:chOff x="0" y="0"/>
            <a:chExt cx="4059936" cy="2047949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059936" cy="2047949"/>
            </a:xfrm>
            <a:custGeom>
              <a:avLst/>
              <a:gdLst/>
              <a:ahLst/>
              <a:cxnLst/>
              <a:rect r="r" b="b" t="t" l="l"/>
              <a:pathLst>
                <a:path h="2047949" w="4059936">
                  <a:moveTo>
                    <a:pt x="0" y="0"/>
                  </a:moveTo>
                  <a:lnTo>
                    <a:pt x="4059936" y="0"/>
                  </a:lnTo>
                  <a:lnTo>
                    <a:pt x="4059936" y="2047949"/>
                  </a:lnTo>
                  <a:lnTo>
                    <a:pt x="0" y="20479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768" r="0" b="43512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4059936" cy="20669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43829"/>
                  </a:solidFill>
                  <a:latin typeface="Cambria"/>
                  <a:ea typeface="Cambria"/>
                  <a:cs typeface="Cambria"/>
                  <a:sym typeface="Cambria"/>
                </a:rPr>
                <a:t>Velocity tracking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3990320" y="3703586"/>
            <a:ext cx="3429000" cy="822960"/>
            <a:chOff x="0" y="0"/>
            <a:chExt cx="4572000" cy="10972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572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414535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3990320" y="4663706"/>
            <a:ext cx="3429000" cy="1440180"/>
            <a:chOff x="0" y="0"/>
            <a:chExt cx="4572000" cy="19202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572000" cy="1920240"/>
            </a:xfrm>
            <a:custGeom>
              <a:avLst/>
              <a:gdLst/>
              <a:ahLst/>
              <a:cxnLst/>
              <a:rect r="r" b="b" t="t" l="l"/>
              <a:pathLst>
                <a:path h="192024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887" t="0" r="-3887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76200"/>
              <a:ext cx="4572000" cy="1996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24"/>
                </a:lnSpc>
              </a:pPr>
              <a:r>
                <a:rPr lang="en-US" sz="1545">
                  <a:solidFill>
                    <a:srgbClr val="7480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Vector de velocidad ideal explícito en la observación; convergencia más rápida e interpretable.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7327423" y="9601200"/>
            <a:ext cx="548640" cy="411480"/>
            <a:chOff x="0" y="0"/>
            <a:chExt cx="731520" cy="5486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A9A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</a:t>
              </a:r>
            </a:p>
          </p:txBody>
        </p:sp>
      </p:grpSp>
      <p:pic>
        <p:nvPicPr>
          <p:cNvPr name="Picture 56" id="5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90672" y="3683770"/>
            <a:ext cx="3340099" cy="862592"/>
          </a:xfrm>
          <a:prstGeom prst="rect">
            <a:avLst/>
          </a:prstGeom>
        </p:spPr>
      </p:pic>
      <p:pic>
        <p:nvPicPr>
          <p:cNvPr name="Picture 57" id="5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396997" y="3643592"/>
            <a:ext cx="3666479" cy="942948"/>
          </a:xfrm>
          <a:prstGeom prst="rect">
            <a:avLst/>
          </a:prstGeom>
        </p:spPr>
      </p:pic>
      <p:pic>
        <p:nvPicPr>
          <p:cNvPr name="Picture 58" id="5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456706" y="3780219"/>
            <a:ext cx="2072513" cy="692346"/>
          </a:xfrm>
          <a:prstGeom prst="rect">
            <a:avLst/>
          </a:prstGeom>
        </p:spPr>
      </p:pic>
      <p:grpSp>
        <p:nvGrpSpPr>
          <p:cNvPr name="Group 59" id="59"/>
          <p:cNvGrpSpPr/>
          <p:nvPr/>
        </p:nvGrpSpPr>
        <p:grpSpPr>
          <a:xfrm rot="0">
            <a:off x="5870448" y="2503170"/>
            <a:ext cx="3044952" cy="1535962"/>
            <a:chOff x="0" y="0"/>
            <a:chExt cx="4059936" cy="2047949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059936" cy="2047949"/>
            </a:xfrm>
            <a:custGeom>
              <a:avLst/>
              <a:gdLst/>
              <a:ahLst/>
              <a:cxnLst/>
              <a:rect r="r" b="b" t="t" l="l"/>
              <a:pathLst>
                <a:path h="2047949" w="4059936">
                  <a:moveTo>
                    <a:pt x="0" y="0"/>
                  </a:moveTo>
                  <a:lnTo>
                    <a:pt x="4059936" y="0"/>
                  </a:lnTo>
                  <a:lnTo>
                    <a:pt x="4059936" y="2047949"/>
                  </a:lnTo>
                  <a:lnTo>
                    <a:pt x="0" y="20479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768" r="0" b="43512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19050"/>
              <a:ext cx="4059936" cy="20669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43829"/>
                  </a:solidFill>
                  <a:latin typeface="Cambria"/>
                  <a:ea typeface="Cambria"/>
                  <a:cs typeface="Cambria"/>
                  <a:sym typeface="Cambria"/>
                </a:rPr>
                <a:t>Progreso</a:t>
              </a:r>
            </a:p>
          </p:txBody>
        </p:sp>
      </p:grpSp>
      <p:pic>
        <p:nvPicPr>
          <p:cNvPr name="Picture 62" id="6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063389" y="3635478"/>
            <a:ext cx="3232570" cy="876518"/>
          </a:xfrm>
          <a:prstGeom prst="rect">
            <a:avLst/>
          </a:prstGeom>
        </p:spPr>
      </p:pic>
      <p:grpSp>
        <p:nvGrpSpPr>
          <p:cNvPr name="Group 63" id="63"/>
          <p:cNvGrpSpPr/>
          <p:nvPr/>
        </p:nvGrpSpPr>
        <p:grpSpPr>
          <a:xfrm rot="0">
            <a:off x="4984535" y="6572357"/>
            <a:ext cx="8318929" cy="3463555"/>
            <a:chOff x="0" y="0"/>
            <a:chExt cx="11091906" cy="461807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1091906" cy="4618074"/>
            </a:xfrm>
            <a:custGeom>
              <a:avLst/>
              <a:gdLst/>
              <a:ahLst/>
              <a:cxnLst/>
              <a:rect r="r" b="b" t="t" l="l"/>
              <a:pathLst>
                <a:path h="4618074" w="11091906">
                  <a:moveTo>
                    <a:pt x="0" y="0"/>
                  </a:moveTo>
                  <a:lnTo>
                    <a:pt x="11091906" y="0"/>
                  </a:lnTo>
                  <a:lnTo>
                    <a:pt x="11091906" y="4618074"/>
                  </a:lnTo>
                  <a:lnTo>
                    <a:pt x="0" y="461807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7621524" y="6085447"/>
            <a:ext cx="3044952" cy="1535962"/>
            <a:chOff x="0" y="0"/>
            <a:chExt cx="4059936" cy="2047949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059936" cy="2047949"/>
            </a:xfrm>
            <a:custGeom>
              <a:avLst/>
              <a:gdLst/>
              <a:ahLst/>
              <a:cxnLst/>
              <a:rect r="r" b="b" t="t" l="l"/>
              <a:pathLst>
                <a:path h="2047949" w="4059936">
                  <a:moveTo>
                    <a:pt x="0" y="0"/>
                  </a:moveTo>
                  <a:lnTo>
                    <a:pt x="4059936" y="0"/>
                  </a:lnTo>
                  <a:lnTo>
                    <a:pt x="4059936" y="2047949"/>
                  </a:lnTo>
                  <a:lnTo>
                    <a:pt x="0" y="20479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768" r="0" b="43512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19050"/>
              <a:ext cx="4059936" cy="20669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34382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Estados terminales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489381" y="7109726"/>
            <a:ext cx="3429000" cy="822960"/>
            <a:chOff x="0" y="0"/>
            <a:chExt cx="4572000" cy="109728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572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414535"/>
            </a:solidFill>
          </p:spPr>
        </p:sp>
      </p:grpSp>
      <p:pic>
        <p:nvPicPr>
          <p:cNvPr name="Picture 70" id="7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693218" y="7117496"/>
            <a:ext cx="3021328" cy="819936"/>
          </a:xfrm>
          <a:prstGeom prst="rect">
            <a:avLst/>
          </a:prstGeom>
        </p:spPr>
      </p:pic>
      <p:grpSp>
        <p:nvGrpSpPr>
          <p:cNvPr name="Group 71" id="71"/>
          <p:cNvGrpSpPr/>
          <p:nvPr/>
        </p:nvGrpSpPr>
        <p:grpSpPr>
          <a:xfrm rot="0">
            <a:off x="9489381" y="8066036"/>
            <a:ext cx="3429000" cy="822960"/>
            <a:chOff x="0" y="0"/>
            <a:chExt cx="4572000" cy="109728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572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414535"/>
            </a:solidFill>
          </p:spPr>
        </p:sp>
      </p:grpSp>
      <p:pic>
        <p:nvPicPr>
          <p:cNvPr name="Picture 73" id="7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645148" y="8260031"/>
            <a:ext cx="1176140" cy="434968"/>
          </a:xfrm>
          <a:prstGeom prst="rect">
            <a:avLst/>
          </a:prstGeom>
        </p:spPr>
      </p:pic>
      <p:grpSp>
        <p:nvGrpSpPr>
          <p:cNvPr name="Group 74" id="74"/>
          <p:cNvGrpSpPr/>
          <p:nvPr/>
        </p:nvGrpSpPr>
        <p:grpSpPr>
          <a:xfrm rot="0">
            <a:off x="9489381" y="9022346"/>
            <a:ext cx="3429000" cy="822960"/>
            <a:chOff x="0" y="0"/>
            <a:chExt cx="4572000" cy="109728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572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414535"/>
            </a:solidFill>
          </p:spPr>
        </p:sp>
      </p:grpSp>
      <p:pic>
        <p:nvPicPr>
          <p:cNvPr name="Picture 76" id="7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0548242" y="9193786"/>
            <a:ext cx="1369951" cy="467270"/>
          </a:xfrm>
          <a:prstGeom prst="rect">
            <a:avLst/>
          </a:prstGeom>
        </p:spPr>
      </p:pic>
      <p:grpSp>
        <p:nvGrpSpPr>
          <p:cNvPr name="Group 77" id="77"/>
          <p:cNvGrpSpPr/>
          <p:nvPr/>
        </p:nvGrpSpPr>
        <p:grpSpPr>
          <a:xfrm rot="0">
            <a:off x="9034272" y="7414818"/>
            <a:ext cx="219456" cy="219456"/>
            <a:chOff x="0" y="0"/>
            <a:chExt cx="292608" cy="29260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93AF85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9034272" y="8319993"/>
            <a:ext cx="219456" cy="219456"/>
            <a:chOff x="0" y="0"/>
            <a:chExt cx="292608" cy="29260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FFBD59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9034272" y="9327438"/>
            <a:ext cx="219456" cy="219456"/>
            <a:chOff x="0" y="0"/>
            <a:chExt cx="292608" cy="292608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FF6363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5596128" y="6753225"/>
            <a:ext cx="3044952" cy="1535962"/>
            <a:chOff x="0" y="0"/>
            <a:chExt cx="4059936" cy="2047949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059936" cy="2047949"/>
            </a:xfrm>
            <a:custGeom>
              <a:avLst/>
              <a:gdLst/>
              <a:ahLst/>
              <a:cxnLst/>
              <a:rect r="r" b="b" t="t" l="l"/>
              <a:pathLst>
                <a:path h="2047949" w="4059936">
                  <a:moveTo>
                    <a:pt x="0" y="0"/>
                  </a:moveTo>
                  <a:lnTo>
                    <a:pt x="4059936" y="0"/>
                  </a:lnTo>
                  <a:lnTo>
                    <a:pt x="4059936" y="2047949"/>
                  </a:lnTo>
                  <a:lnTo>
                    <a:pt x="0" y="20479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768" r="0" b="43512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19050"/>
              <a:ext cx="4059936" cy="20669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343829"/>
                  </a:solidFill>
                  <a:latin typeface="Cambria"/>
                  <a:ea typeface="Cambria"/>
                  <a:cs typeface="Cambria"/>
                  <a:sym typeface="Cambria"/>
                </a:rPr>
                <a:t>Estacionamiento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5596128" y="7646936"/>
            <a:ext cx="3044952" cy="1535962"/>
            <a:chOff x="0" y="0"/>
            <a:chExt cx="4059936" cy="2047949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4059936" cy="2047949"/>
            </a:xfrm>
            <a:custGeom>
              <a:avLst/>
              <a:gdLst/>
              <a:ahLst/>
              <a:cxnLst/>
              <a:rect r="r" b="b" t="t" l="l"/>
              <a:pathLst>
                <a:path h="2047949" w="4059936">
                  <a:moveTo>
                    <a:pt x="0" y="0"/>
                  </a:moveTo>
                  <a:lnTo>
                    <a:pt x="4059936" y="0"/>
                  </a:lnTo>
                  <a:lnTo>
                    <a:pt x="4059936" y="2047949"/>
                  </a:lnTo>
                  <a:lnTo>
                    <a:pt x="0" y="20479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768" r="0" b="43512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19050"/>
              <a:ext cx="4059936" cy="20669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343829"/>
                  </a:solidFill>
                  <a:latin typeface="Cambria"/>
                  <a:ea typeface="Cambria"/>
                  <a:cs typeface="Cambria"/>
                  <a:sym typeface="Cambria"/>
                </a:rPr>
                <a:t>Truncamiento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5596128" y="8559457"/>
            <a:ext cx="3044952" cy="1535962"/>
            <a:chOff x="0" y="0"/>
            <a:chExt cx="4059936" cy="2047949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4059936" cy="2047949"/>
            </a:xfrm>
            <a:custGeom>
              <a:avLst/>
              <a:gdLst/>
              <a:ahLst/>
              <a:cxnLst/>
              <a:rect r="r" b="b" t="t" l="l"/>
              <a:pathLst>
                <a:path h="2047949" w="4059936">
                  <a:moveTo>
                    <a:pt x="0" y="0"/>
                  </a:moveTo>
                  <a:lnTo>
                    <a:pt x="4059936" y="0"/>
                  </a:lnTo>
                  <a:lnTo>
                    <a:pt x="4059936" y="2047949"/>
                  </a:lnTo>
                  <a:lnTo>
                    <a:pt x="0" y="20479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768" r="0" b="43512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19050"/>
              <a:ext cx="4059936" cy="20669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343829"/>
                  </a:solidFill>
                  <a:latin typeface="Cambria"/>
                  <a:ea typeface="Cambria"/>
                  <a:cs typeface="Cambria"/>
                  <a:sym typeface="Cambria"/>
                </a:rPr>
                <a:t>Choque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3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754380"/>
            <a:ext cx="9601200" cy="480060"/>
            <a:chOff x="0" y="0"/>
            <a:chExt cx="128016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01600" cy="640080"/>
            </a:xfrm>
            <a:custGeom>
              <a:avLst/>
              <a:gdLst/>
              <a:ahLst/>
              <a:cxnLst/>
              <a:rect r="r" b="b" t="t" l="l"/>
              <a:pathLst>
                <a:path h="64008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016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3F6E6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DESARROLLO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429096"/>
            <a:ext cx="6776776" cy="2965614"/>
            <a:chOff x="0" y="0"/>
            <a:chExt cx="9035701" cy="39541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035701" cy="3954152"/>
            </a:xfrm>
            <a:custGeom>
              <a:avLst/>
              <a:gdLst/>
              <a:ahLst/>
              <a:cxnLst/>
              <a:rect r="r" b="b" t="t" l="l"/>
              <a:pathLst>
                <a:path h="3954152" w="9035701">
                  <a:moveTo>
                    <a:pt x="0" y="0"/>
                  </a:moveTo>
                  <a:lnTo>
                    <a:pt x="9035701" y="0"/>
                  </a:lnTo>
                  <a:lnTo>
                    <a:pt x="9035701" y="3954152"/>
                  </a:lnTo>
                  <a:lnTo>
                    <a:pt x="0" y="39541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428" r="-140852" b="-2805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9035701" cy="39636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34382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Casos de reward hacking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2537460"/>
            <a:ext cx="7886700" cy="7269480"/>
            <a:chOff x="0" y="0"/>
            <a:chExt cx="10515600" cy="9692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515600" cy="9692640"/>
            </a:xfrm>
            <a:custGeom>
              <a:avLst/>
              <a:gdLst/>
              <a:ahLst/>
              <a:cxnLst/>
              <a:rect r="r" b="b" t="t" l="l"/>
              <a:pathLst>
                <a:path h="9692640" w="10515600">
                  <a:moveTo>
                    <a:pt x="0" y="0"/>
                  </a:moveTo>
                  <a:lnTo>
                    <a:pt x="10515600" y="0"/>
                  </a:lnTo>
                  <a:lnTo>
                    <a:pt x="10515600" y="9692640"/>
                  </a:lnTo>
                  <a:lnTo>
                    <a:pt x="0" y="9692640"/>
                  </a:lnTo>
                  <a:close/>
                </a:path>
              </a:pathLst>
            </a:custGeom>
            <a:solidFill>
              <a:srgbClr val="414535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03020" y="2191622"/>
            <a:ext cx="7200900" cy="1651797"/>
            <a:chOff x="0" y="0"/>
            <a:chExt cx="9601200" cy="220239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601200" cy="2202396"/>
            </a:xfrm>
            <a:custGeom>
              <a:avLst/>
              <a:gdLst/>
              <a:ahLst/>
              <a:cxnLst/>
              <a:rect r="r" b="b" t="t" l="l"/>
              <a:pathLst>
                <a:path h="2202396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2202396"/>
                  </a:lnTo>
                  <a:lnTo>
                    <a:pt x="0" y="22023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336" r="0" b="-155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9601200" cy="22214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Reward penaliza d</a:t>
              </a: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xy</a:t>
              </a: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 mucho más que d</a:t>
              </a: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z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89720" y="2537460"/>
            <a:ext cx="7886700" cy="7269480"/>
            <a:chOff x="0" y="0"/>
            <a:chExt cx="10515600" cy="9692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515600" cy="9692640"/>
            </a:xfrm>
            <a:custGeom>
              <a:avLst/>
              <a:gdLst/>
              <a:ahLst/>
              <a:cxnLst/>
              <a:rect r="r" b="b" t="t" l="l"/>
              <a:pathLst>
                <a:path h="9692640" w="10515600">
                  <a:moveTo>
                    <a:pt x="0" y="0"/>
                  </a:moveTo>
                  <a:lnTo>
                    <a:pt x="10515600" y="0"/>
                  </a:lnTo>
                  <a:lnTo>
                    <a:pt x="10515600" y="9692640"/>
                  </a:lnTo>
                  <a:lnTo>
                    <a:pt x="0" y="96926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532620" y="2191622"/>
            <a:ext cx="7200900" cy="1651797"/>
            <a:chOff x="0" y="0"/>
            <a:chExt cx="9601200" cy="220239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601200" cy="2202396"/>
            </a:xfrm>
            <a:custGeom>
              <a:avLst/>
              <a:gdLst/>
              <a:ahLst/>
              <a:cxnLst/>
              <a:rect r="r" b="b" t="t" l="l"/>
              <a:pathLst>
                <a:path h="2202396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2202396"/>
                  </a:lnTo>
                  <a:lnTo>
                    <a:pt x="0" y="2202396"/>
                  </a:lnTo>
                  <a:close/>
                </a:path>
              </a:pathLst>
            </a:custGeom>
            <a:solidFill>
              <a:srgbClr val="E4EEEC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9601200" cy="22214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34382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Distancia calculada hacia el centro de la plataforma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7327423" y="9601200"/>
            <a:ext cx="548640" cy="411480"/>
            <a:chOff x="0" y="0"/>
            <a:chExt cx="731520" cy="548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A9A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5164229" y="7026"/>
            <a:ext cx="3123771" cy="2340528"/>
          </a:xfrm>
          <a:custGeom>
            <a:avLst/>
            <a:gdLst/>
            <a:ahLst/>
            <a:cxnLst/>
            <a:rect r="r" b="b" t="t" l="l"/>
            <a:pathLst>
              <a:path h="2340528" w="3123771">
                <a:moveTo>
                  <a:pt x="0" y="0"/>
                </a:moveTo>
                <a:lnTo>
                  <a:pt x="3123771" y="0"/>
                </a:lnTo>
                <a:lnTo>
                  <a:pt x="3123771" y="2340528"/>
                </a:lnTo>
                <a:lnTo>
                  <a:pt x="0" y="23405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3173" r="0" b="-20290"/>
            </a:stretch>
          </a:blipFill>
        </p:spPr>
      </p:sp>
      <p:pic>
        <p:nvPicPr>
          <p:cNvPr name="Picture 22" id="22">
            <a:hlinkClick action="ppaction://media"/>
          </p:cNvPr>
          <p:cNvPicPr>
            <a:picLocks noChangeAspect="true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5"/>
          <a:srcRect l="43697" t="23383" r="34505" b="49341"/>
          <a:stretch>
            <a:fillRect/>
          </a:stretch>
        </p:blipFill>
        <p:spPr>
          <a:xfrm flipH="false" flipV="false" rot="0">
            <a:off x="9924593" y="3792168"/>
            <a:ext cx="6378854" cy="4988664"/>
          </a:xfrm>
          <a:prstGeom prst="rect">
            <a:avLst/>
          </a:prstGeom>
        </p:spPr>
      </p:pic>
      <p:pic>
        <p:nvPicPr>
          <p:cNvPr name="Picture 23" id="23">
            <a:hlinkClick action="ppaction://media"/>
          </p:cNvPr>
          <p:cNvPicPr>
            <a:picLocks noChangeAspect="true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10">
                  <p14:trim st="0.0000" end="0.0010"/>
                </p14:media>
              </p:ext>
            </p:extLst>
          </p:nvPr>
        </p:nvPicPr>
        <p:blipFill>
          <a:blip r:embed="rId8"/>
          <a:srcRect l="17446" t="20408" r="31677" b="15744"/>
          <a:stretch>
            <a:fillRect/>
          </a:stretch>
        </p:blipFill>
        <p:spPr>
          <a:xfrm flipH="false" flipV="false" rot="0">
            <a:off x="1673724" y="3792168"/>
            <a:ext cx="6345034" cy="49766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2"/>
                </p:tgtEl>
              </p:cMediaNode>
            </p:video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3"/>
                </p:tgtEl>
              </p:cMediaNode>
            </p:video>
          </p:childTnLst>
        </p:cTn>
      </p:par>
    </p:tnLst>
  </p:timing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3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754380"/>
            <a:ext cx="9601200" cy="480060"/>
            <a:chOff x="0" y="0"/>
            <a:chExt cx="128016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01600" cy="640080"/>
            </a:xfrm>
            <a:custGeom>
              <a:avLst/>
              <a:gdLst/>
              <a:ahLst/>
              <a:cxnLst/>
              <a:rect r="r" b="b" t="t" l="l"/>
              <a:pathLst>
                <a:path h="64008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016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3F6E6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DESARROLLO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303020"/>
            <a:ext cx="16322040" cy="1234440"/>
            <a:chOff x="0" y="0"/>
            <a:chExt cx="2176272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627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7635" r="0" b="-20763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76272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34382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Ajustando kang y kt: efecto en la política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2537460"/>
            <a:ext cx="7886700" cy="7269480"/>
            <a:chOff x="0" y="0"/>
            <a:chExt cx="10515600" cy="9692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515600" cy="9692640"/>
            </a:xfrm>
            <a:custGeom>
              <a:avLst/>
              <a:gdLst/>
              <a:ahLst/>
              <a:cxnLst/>
              <a:rect r="r" b="b" t="t" l="l"/>
              <a:pathLst>
                <a:path h="9692640" w="10515600">
                  <a:moveTo>
                    <a:pt x="0" y="0"/>
                  </a:moveTo>
                  <a:lnTo>
                    <a:pt x="10515600" y="0"/>
                  </a:lnTo>
                  <a:lnTo>
                    <a:pt x="10515600" y="9692640"/>
                  </a:lnTo>
                  <a:lnTo>
                    <a:pt x="0" y="96926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03020" y="2191622"/>
            <a:ext cx="7200900" cy="1651797"/>
            <a:chOff x="0" y="0"/>
            <a:chExt cx="9601200" cy="220239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601200" cy="2202396"/>
            </a:xfrm>
            <a:custGeom>
              <a:avLst/>
              <a:gdLst/>
              <a:ahLst/>
              <a:cxnLst/>
              <a:rect r="r" b="b" t="t" l="l"/>
              <a:pathLst>
                <a:path h="2202396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2202396"/>
                  </a:lnTo>
                  <a:lnTo>
                    <a:pt x="0" y="22023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336" r="0" b="-155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9601200" cy="22214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34382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Penalización angular · k</a:t>
              </a:r>
              <a:r>
                <a:rPr lang="en-US" sz="2250" b="true">
                  <a:solidFill>
                    <a:srgbClr val="34382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ang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242034" y="3360420"/>
            <a:ext cx="5322872" cy="2661436"/>
            <a:chOff x="0" y="0"/>
            <a:chExt cx="9601200" cy="4800600"/>
          </a:xfrm>
        </p:grpSpPr>
        <p:sp>
          <p:nvSpPr>
            <p:cNvPr name="Freeform 14" id="14" descr="figs/fig3_kang.png"/>
            <p:cNvSpPr/>
            <p:nvPr/>
          </p:nvSpPr>
          <p:spPr>
            <a:xfrm flipH="false" flipV="false" rot="0">
              <a:off x="0" y="0"/>
              <a:ext cx="9601200" cy="4800600"/>
            </a:xfrm>
            <a:custGeom>
              <a:avLst/>
              <a:gdLst/>
              <a:ahLst/>
              <a:cxnLst/>
              <a:rect r="r" b="b" t="t" l="l"/>
              <a:pathLst>
                <a:path h="48006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4800600"/>
                  </a:lnTo>
                  <a:lnTo>
                    <a:pt x="0" y="4800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03020" y="8290560"/>
            <a:ext cx="7200900" cy="1611630"/>
            <a:chOff x="0" y="0"/>
            <a:chExt cx="9601200" cy="21488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601200" cy="2148840"/>
            </a:xfrm>
            <a:custGeom>
              <a:avLst/>
              <a:gdLst/>
              <a:ahLst/>
              <a:cxnLst/>
              <a:rect r="r" b="b" t="t" l="l"/>
              <a:pathLst>
                <a:path h="214884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2148840"/>
                  </a:lnTo>
                  <a:lnTo>
                    <a:pt x="0" y="2148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75" r="0" b="-5514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9601200" cy="2205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42"/>
                </a:lnSpc>
              </a:pPr>
              <a:r>
                <a:rPr lang="en-US" sz="1695">
                  <a:solidFill>
                    <a:srgbClr val="74806B"/>
                  </a:solidFill>
                  <a:latin typeface="Cambria"/>
                  <a:ea typeface="Cambria"/>
                  <a:cs typeface="Cambria"/>
                  <a:sym typeface="Cambria"/>
                </a:rPr>
                <a:t>k</a:t>
              </a:r>
              <a:r>
                <a:rPr lang="en-US" sz="1695">
                  <a:solidFill>
                    <a:srgbClr val="74806B"/>
                  </a:solidFill>
                  <a:latin typeface="Cambria"/>
                  <a:ea typeface="Cambria"/>
                  <a:cs typeface="Cambria"/>
                  <a:sym typeface="Cambria"/>
                </a:rPr>
                <a:t>ang</a:t>
              </a:r>
              <a:r>
                <a:rPr lang="en-US" sz="1695">
                  <a:solidFill>
                    <a:srgbClr val="74806B"/>
                  </a:solidFill>
                  <a:latin typeface="Cambria"/>
                  <a:ea typeface="Cambria"/>
                  <a:cs typeface="Cambria"/>
                  <a:sym typeface="Cambria"/>
                </a:rPr>
                <a:t> más alto ⟶ comportamiento más suave, menos eficiente, estacionamiento temprano. Continuamos con k</a:t>
              </a:r>
              <a:r>
                <a:rPr lang="en-US" sz="1695">
                  <a:solidFill>
                    <a:srgbClr val="74806B"/>
                  </a:solidFill>
                  <a:latin typeface="Cambria"/>
                  <a:ea typeface="Cambria"/>
                  <a:cs typeface="Cambria"/>
                  <a:sym typeface="Cambria"/>
                </a:rPr>
                <a:t>ang</a:t>
              </a:r>
              <a:r>
                <a:rPr lang="en-US" sz="1695">
                  <a:solidFill>
                    <a:srgbClr val="74806B"/>
                  </a:solidFill>
                  <a:latin typeface="Cambria"/>
                  <a:ea typeface="Cambria"/>
                  <a:cs typeface="Cambria"/>
                  <a:sym typeface="Cambria"/>
                </a:rPr>
                <a:t> = 0.001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189720" y="2537460"/>
            <a:ext cx="7886700" cy="7269480"/>
            <a:chOff x="0" y="0"/>
            <a:chExt cx="10515600" cy="9692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515600" cy="9692640"/>
            </a:xfrm>
            <a:custGeom>
              <a:avLst/>
              <a:gdLst/>
              <a:ahLst/>
              <a:cxnLst/>
              <a:rect r="r" b="b" t="t" l="l"/>
              <a:pathLst>
                <a:path h="9692640" w="10515600">
                  <a:moveTo>
                    <a:pt x="0" y="0"/>
                  </a:moveTo>
                  <a:lnTo>
                    <a:pt x="10515600" y="0"/>
                  </a:lnTo>
                  <a:lnTo>
                    <a:pt x="10515600" y="9692640"/>
                  </a:lnTo>
                  <a:lnTo>
                    <a:pt x="0" y="9692640"/>
                  </a:lnTo>
                  <a:close/>
                </a:path>
              </a:pathLst>
            </a:custGeom>
            <a:solidFill>
              <a:srgbClr val="414535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532620" y="2191622"/>
            <a:ext cx="7200900" cy="1651797"/>
            <a:chOff x="0" y="0"/>
            <a:chExt cx="9601200" cy="220239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601200" cy="2202396"/>
            </a:xfrm>
            <a:custGeom>
              <a:avLst/>
              <a:gdLst/>
              <a:ahLst/>
              <a:cxnLst/>
              <a:rect r="r" b="b" t="t" l="l"/>
              <a:pathLst>
                <a:path h="2202396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2202396"/>
                  </a:lnTo>
                  <a:lnTo>
                    <a:pt x="0" y="22023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336" r="0" b="-155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9601200" cy="22214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Recompensa de contacto · k</a:t>
              </a: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532620" y="3957718"/>
            <a:ext cx="7200900" cy="3600450"/>
            <a:chOff x="0" y="0"/>
            <a:chExt cx="9601200" cy="4800600"/>
          </a:xfrm>
        </p:grpSpPr>
        <p:sp>
          <p:nvSpPr>
            <p:cNvPr name="Freeform 24" id="24" descr="figs/fig6_kt.png"/>
            <p:cNvSpPr/>
            <p:nvPr/>
          </p:nvSpPr>
          <p:spPr>
            <a:xfrm flipH="false" flipV="false" rot="0">
              <a:off x="0" y="0"/>
              <a:ext cx="9601200" cy="4800600"/>
            </a:xfrm>
            <a:custGeom>
              <a:avLst/>
              <a:gdLst/>
              <a:ahLst/>
              <a:cxnLst/>
              <a:rect r="r" b="b" t="t" l="l"/>
              <a:pathLst>
                <a:path h="48006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4800600"/>
                  </a:lnTo>
                  <a:lnTo>
                    <a:pt x="0" y="4800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532620" y="8003469"/>
            <a:ext cx="7200900" cy="1235781"/>
            <a:chOff x="0" y="0"/>
            <a:chExt cx="9601200" cy="164770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601200" cy="1647708"/>
            </a:xfrm>
            <a:custGeom>
              <a:avLst/>
              <a:gdLst/>
              <a:ahLst/>
              <a:cxnLst/>
              <a:rect r="r" b="b" t="t" l="l"/>
              <a:pathLst>
                <a:path h="1647708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647708"/>
                  </a:lnTo>
                  <a:lnTo>
                    <a:pt x="0" y="16477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845" r="0" b="-91232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9601200" cy="17048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42"/>
                </a:lnSpc>
              </a:pPr>
              <a:r>
                <a:rPr lang="en-US" sz="1695">
                  <a:solidFill>
                    <a:srgbClr val="D8DECB"/>
                  </a:solidFill>
                  <a:latin typeface="Cambria"/>
                  <a:ea typeface="Cambria"/>
                  <a:cs typeface="Cambria"/>
                  <a:sym typeface="Cambria"/>
                </a:rPr>
                <a:t>Mayor k</a:t>
              </a:r>
              <a:r>
                <a:rPr lang="en-US" sz="1695">
                  <a:solidFill>
                    <a:srgbClr val="D8DECB"/>
                  </a:solidFill>
                  <a:latin typeface="Cambria"/>
                  <a:ea typeface="Cambria"/>
                  <a:cs typeface="Cambria"/>
                  <a:sym typeface="Cambria"/>
                </a:rPr>
                <a:t>t</a:t>
              </a:r>
              <a:r>
                <a:rPr lang="en-US" sz="1695">
                  <a:solidFill>
                    <a:srgbClr val="D8DECB"/>
                  </a:solidFill>
                  <a:latin typeface="Cambria"/>
                  <a:ea typeface="Cambria"/>
                  <a:cs typeface="Cambria"/>
                  <a:sym typeface="Cambria"/>
                </a:rPr>
                <a:t> ⟶ estacionamiento temprano, peor rendimiento final.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7327423" y="9601200"/>
            <a:ext cx="548640" cy="411480"/>
            <a:chOff x="0" y="0"/>
            <a:chExt cx="731520" cy="5486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A9A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401114" y="203778"/>
            <a:ext cx="2222392" cy="2198484"/>
            <a:chOff x="0" y="0"/>
            <a:chExt cx="10726170" cy="106107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726170" cy="10610781"/>
            </a:xfrm>
            <a:custGeom>
              <a:avLst/>
              <a:gdLst/>
              <a:ahLst/>
              <a:cxnLst/>
              <a:rect r="r" b="b" t="t" l="l"/>
              <a:pathLst>
                <a:path h="10610781" w="10726170">
                  <a:moveTo>
                    <a:pt x="0" y="0"/>
                  </a:moveTo>
                  <a:lnTo>
                    <a:pt x="10726170" y="0"/>
                  </a:lnTo>
                  <a:lnTo>
                    <a:pt x="10726170" y="10610781"/>
                  </a:lnTo>
                  <a:lnTo>
                    <a:pt x="0" y="10610781"/>
                  </a:lnTo>
                  <a:close/>
                </a:path>
              </a:pathLst>
            </a:custGeom>
            <a:blipFill>
              <a:blip r:embed="rId6"/>
              <a:stretch>
                <a:fillRect l="0" t="-543" r="0" b="-543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5014160" y="5950240"/>
            <a:ext cx="2739360" cy="2709890"/>
            <a:chOff x="0" y="0"/>
            <a:chExt cx="10726170" cy="106107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726170" cy="10610781"/>
            </a:xfrm>
            <a:custGeom>
              <a:avLst/>
              <a:gdLst/>
              <a:ahLst/>
              <a:cxnLst/>
              <a:rect r="r" b="b" t="t" l="l"/>
              <a:pathLst>
                <a:path h="10610781" w="10726170">
                  <a:moveTo>
                    <a:pt x="0" y="0"/>
                  </a:moveTo>
                  <a:lnTo>
                    <a:pt x="10726170" y="0"/>
                  </a:lnTo>
                  <a:lnTo>
                    <a:pt x="10726170" y="10610781"/>
                  </a:lnTo>
                  <a:lnTo>
                    <a:pt x="0" y="10610781"/>
                  </a:lnTo>
                  <a:close/>
                </a:path>
              </a:pathLst>
            </a:custGeom>
            <a:blipFill>
              <a:blip r:embed="rId7"/>
              <a:stretch>
                <a:fillRect l="0" t="-543" r="0" b="-543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5082729" y="-22808"/>
            <a:ext cx="2680492" cy="2651656"/>
            <a:chOff x="0" y="0"/>
            <a:chExt cx="10726170" cy="1061078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726170" cy="10610781"/>
            </a:xfrm>
            <a:custGeom>
              <a:avLst/>
              <a:gdLst/>
              <a:ahLst/>
              <a:cxnLst/>
              <a:rect r="r" b="b" t="t" l="l"/>
              <a:pathLst>
                <a:path h="10610781" w="10726170">
                  <a:moveTo>
                    <a:pt x="0" y="0"/>
                  </a:moveTo>
                  <a:lnTo>
                    <a:pt x="10726170" y="0"/>
                  </a:lnTo>
                  <a:lnTo>
                    <a:pt x="10726170" y="10610781"/>
                  </a:lnTo>
                  <a:lnTo>
                    <a:pt x="0" y="10610781"/>
                  </a:lnTo>
                  <a:close/>
                </a:path>
              </a:pathLst>
            </a:custGeom>
            <a:blipFill>
              <a:blip r:embed="rId8"/>
              <a:stretch>
                <a:fillRect l="0" t="-543" r="0" b="-543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2065250" y="5916440"/>
            <a:ext cx="2739360" cy="2709890"/>
            <a:chOff x="0" y="0"/>
            <a:chExt cx="10726170" cy="1061078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726170" cy="10610781"/>
            </a:xfrm>
            <a:custGeom>
              <a:avLst/>
              <a:gdLst/>
              <a:ahLst/>
              <a:cxnLst/>
              <a:rect r="r" b="b" t="t" l="l"/>
              <a:pathLst>
                <a:path h="10610781" w="10726170">
                  <a:moveTo>
                    <a:pt x="0" y="0"/>
                  </a:moveTo>
                  <a:lnTo>
                    <a:pt x="10726170" y="0"/>
                  </a:lnTo>
                  <a:lnTo>
                    <a:pt x="10726170" y="10610781"/>
                  </a:lnTo>
                  <a:lnTo>
                    <a:pt x="0" y="10610781"/>
                  </a:lnTo>
                  <a:close/>
                </a:path>
              </a:pathLst>
            </a:custGeom>
            <a:blipFill>
              <a:blip r:embed="rId9"/>
              <a:stretch>
                <a:fillRect l="0" t="-543" r="0" b="-543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3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754380"/>
            <a:ext cx="9601200" cy="480060"/>
            <a:chOff x="0" y="0"/>
            <a:chExt cx="128016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01600" cy="640080"/>
            </a:xfrm>
            <a:custGeom>
              <a:avLst/>
              <a:gdLst/>
              <a:ahLst/>
              <a:cxnLst/>
              <a:rect r="r" b="b" t="t" l="l"/>
              <a:pathLst>
                <a:path h="64008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016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3F6E6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RESULTADOS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350229"/>
            <a:ext cx="16322040" cy="2965614"/>
            <a:chOff x="0" y="0"/>
            <a:chExt cx="21762720" cy="39541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62720" cy="3954152"/>
            </a:xfrm>
            <a:custGeom>
              <a:avLst/>
              <a:gdLst/>
              <a:ahLst/>
              <a:cxnLst/>
              <a:rect r="r" b="b" t="t" l="l"/>
              <a:pathLst>
                <a:path h="3954152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3954152"/>
                  </a:lnTo>
                  <a:lnTo>
                    <a:pt x="0" y="39541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428" r="0" b="-2805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762720" cy="39636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34382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Mejores resultados - Entrenamiento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2973705"/>
            <a:ext cx="8915400" cy="4457700"/>
            <a:chOff x="0" y="0"/>
            <a:chExt cx="11887200" cy="5943600"/>
          </a:xfrm>
        </p:grpSpPr>
        <p:sp>
          <p:nvSpPr>
            <p:cNvPr name="Freeform 9" id="9" descr="figs/fig7_comparison.png"/>
            <p:cNvSpPr/>
            <p:nvPr/>
          </p:nvSpPr>
          <p:spPr>
            <a:xfrm flipH="false" flipV="false" rot="0">
              <a:off x="0" y="0"/>
              <a:ext cx="11887200" cy="5943600"/>
            </a:xfrm>
            <a:custGeom>
              <a:avLst/>
              <a:gdLst/>
              <a:ahLst/>
              <a:cxnLst/>
              <a:rect r="r" b="b" t="t" l="l"/>
              <a:pathLst>
                <a:path h="5943600" w="11887200">
                  <a:moveTo>
                    <a:pt x="0" y="0"/>
                  </a:moveTo>
                  <a:lnTo>
                    <a:pt x="11887200" y="0"/>
                  </a:lnTo>
                  <a:lnTo>
                    <a:pt x="11887200" y="5943600"/>
                  </a:lnTo>
                  <a:lnTo>
                    <a:pt x="0" y="594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086975" y="2400300"/>
            <a:ext cx="7886700" cy="2125980"/>
            <a:chOff x="0" y="0"/>
            <a:chExt cx="10515600" cy="2834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515600" cy="2834640"/>
            </a:xfrm>
            <a:custGeom>
              <a:avLst/>
              <a:gdLst/>
              <a:ahLst/>
              <a:cxnLst/>
              <a:rect r="r" b="b" t="t" l="l"/>
              <a:pathLst>
                <a:path h="2834640" w="10515600">
                  <a:moveTo>
                    <a:pt x="0" y="0"/>
                  </a:moveTo>
                  <a:lnTo>
                    <a:pt x="10515600" y="0"/>
                  </a:lnTo>
                  <a:lnTo>
                    <a:pt x="10515600" y="2834640"/>
                  </a:lnTo>
                  <a:lnTo>
                    <a:pt x="0" y="28346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388727" y="2721886"/>
            <a:ext cx="219456" cy="219456"/>
            <a:chOff x="0" y="0"/>
            <a:chExt cx="292608" cy="2926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618985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772775" y="2090211"/>
            <a:ext cx="6926580" cy="1482807"/>
            <a:chOff x="0" y="0"/>
            <a:chExt cx="9235440" cy="197707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235440" cy="1977076"/>
            </a:xfrm>
            <a:custGeom>
              <a:avLst/>
              <a:gdLst/>
              <a:ahLst/>
              <a:cxnLst/>
              <a:rect r="r" b="b" t="t" l="l"/>
              <a:pathLst>
                <a:path h="1977076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1977076"/>
                  </a:lnTo>
                  <a:lnTo>
                    <a:pt x="0" y="19770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832" r="0" b="-720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9235440" cy="19866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34382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V1 — reward mínimo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471023" y="2915699"/>
            <a:ext cx="7200900" cy="1181598"/>
            <a:chOff x="0" y="0"/>
            <a:chExt cx="9601200" cy="157546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601200" cy="1575463"/>
            </a:xfrm>
            <a:custGeom>
              <a:avLst/>
              <a:gdLst/>
              <a:ahLst/>
              <a:cxnLst/>
              <a:rect r="r" b="b" t="t" l="l"/>
              <a:pathLst>
                <a:path h="1575463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575463"/>
                  </a:lnTo>
                  <a:lnTo>
                    <a:pt x="0" y="157546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627" r="0" b="-4486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601200" cy="16135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35"/>
                </a:lnSpc>
              </a:pPr>
              <a:r>
                <a:rPr lang="en-US" b="true" sz="1620">
                  <a:solidFill>
                    <a:srgbClr val="41453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+ </a:t>
              </a:r>
              <a:r>
                <a:rPr lang="en-US" sz="1620">
                  <a:solidFill>
                    <a:srgbClr val="414535"/>
                  </a:solidFill>
                  <a:latin typeface="Cambria"/>
                  <a:ea typeface="Cambria"/>
                  <a:cs typeface="Cambria"/>
                  <a:sym typeface="Cambria"/>
                </a:rPr>
                <a:t>Un solo término: fácil de implementar y pocos parámetros para balancear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471023" y="3506498"/>
            <a:ext cx="7200900" cy="1181598"/>
            <a:chOff x="0" y="0"/>
            <a:chExt cx="9601200" cy="157546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601200" cy="1575463"/>
            </a:xfrm>
            <a:custGeom>
              <a:avLst/>
              <a:gdLst/>
              <a:ahLst/>
              <a:cxnLst/>
              <a:rect r="r" b="b" t="t" l="l"/>
              <a:pathLst>
                <a:path h="1575463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575463"/>
                  </a:lnTo>
                  <a:lnTo>
                    <a:pt x="0" y="157546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725" r="0" b="-4776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9601200" cy="16135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35"/>
                </a:lnSpc>
              </a:pPr>
              <a:r>
                <a:rPr lang="en-US" sz="1620" b="true">
                  <a:solidFill>
                    <a:srgbClr val="61898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− </a:t>
              </a:r>
              <a:r>
                <a:rPr lang="en-US" sz="1620">
                  <a:solidFill>
                    <a:srgbClr val="618985"/>
                  </a:solidFill>
                  <a:latin typeface="Cambria"/>
                  <a:ea typeface="Cambria"/>
                  <a:cs typeface="Cambria"/>
                  <a:sym typeface="Cambria"/>
                </a:rPr>
                <a:t>Aprendizaje tardío, trayectoria más ruidosa y menos directa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086975" y="4732020"/>
            <a:ext cx="7886700" cy="2125980"/>
            <a:chOff x="0" y="0"/>
            <a:chExt cx="10515600" cy="28346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515600" cy="2834640"/>
            </a:xfrm>
            <a:custGeom>
              <a:avLst/>
              <a:gdLst/>
              <a:ahLst/>
              <a:cxnLst/>
              <a:rect r="r" b="b" t="t" l="l"/>
              <a:pathLst>
                <a:path h="2834640" w="10515600">
                  <a:moveTo>
                    <a:pt x="0" y="0"/>
                  </a:moveTo>
                  <a:lnTo>
                    <a:pt x="10515600" y="0"/>
                  </a:lnTo>
                  <a:lnTo>
                    <a:pt x="10515600" y="2834640"/>
                  </a:lnTo>
                  <a:lnTo>
                    <a:pt x="0" y="28346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0388727" y="5024247"/>
            <a:ext cx="219456" cy="219456"/>
            <a:chOff x="0" y="0"/>
            <a:chExt cx="292608" cy="29260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B98C64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745343" y="4392571"/>
            <a:ext cx="6926580" cy="1482807"/>
            <a:chOff x="0" y="0"/>
            <a:chExt cx="9235440" cy="197707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235440" cy="1977076"/>
            </a:xfrm>
            <a:custGeom>
              <a:avLst/>
              <a:gdLst/>
              <a:ahLst/>
              <a:cxnLst/>
              <a:rect r="r" b="b" t="t" l="l"/>
              <a:pathLst>
                <a:path h="1977076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1977076"/>
                  </a:lnTo>
                  <a:lnTo>
                    <a:pt x="0" y="19770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832" r="0" b="-7207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9235440" cy="19866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34382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Contacto (k</a:t>
              </a:r>
              <a:r>
                <a:rPr lang="en-US" sz="2025" b="true">
                  <a:solidFill>
                    <a:srgbClr val="34382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</a:t>
              </a:r>
              <a:r>
                <a:rPr lang="en-US" sz="2025" b="true">
                  <a:solidFill>
                    <a:srgbClr val="34382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 = 0.1)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471023" y="5194686"/>
            <a:ext cx="7200900" cy="1181598"/>
            <a:chOff x="0" y="0"/>
            <a:chExt cx="9601200" cy="157546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601200" cy="1575463"/>
            </a:xfrm>
            <a:custGeom>
              <a:avLst/>
              <a:gdLst/>
              <a:ahLst/>
              <a:cxnLst/>
              <a:rect r="r" b="b" t="t" l="l"/>
              <a:pathLst>
                <a:path h="1575463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575463"/>
                  </a:lnTo>
                  <a:lnTo>
                    <a:pt x="0" y="157546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627" r="0" b="-44863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9601200" cy="16135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35"/>
                </a:lnSpc>
              </a:pPr>
              <a:r>
                <a:rPr lang="en-US" sz="1620" b="true">
                  <a:solidFill>
                    <a:srgbClr val="41453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+ </a:t>
              </a:r>
              <a:r>
                <a:rPr lang="en-US" sz="1620">
                  <a:solidFill>
                    <a:srgbClr val="414535"/>
                  </a:solidFill>
                  <a:latin typeface="Cambria"/>
                  <a:ea typeface="Cambria"/>
                  <a:cs typeface="Cambria"/>
                  <a:sym typeface="Cambria"/>
                </a:rPr>
                <a:t>Recompensa de contacto y penalización angular:  movimiento estable y suave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471023" y="5785485"/>
            <a:ext cx="7200900" cy="1181598"/>
            <a:chOff x="0" y="0"/>
            <a:chExt cx="9601200" cy="157546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601200" cy="1575463"/>
            </a:xfrm>
            <a:custGeom>
              <a:avLst/>
              <a:gdLst/>
              <a:ahLst/>
              <a:cxnLst/>
              <a:rect r="r" b="b" t="t" l="l"/>
              <a:pathLst>
                <a:path h="1575463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575463"/>
                  </a:lnTo>
                  <a:lnTo>
                    <a:pt x="0" y="157546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725" r="0" b="-47765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9601200" cy="16135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35"/>
                </a:lnSpc>
              </a:pPr>
              <a:r>
                <a:rPr lang="en-US" sz="1620" b="true">
                  <a:solidFill>
                    <a:srgbClr val="61898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− </a:t>
              </a:r>
              <a:r>
                <a:rPr lang="en-US" sz="1620">
                  <a:solidFill>
                    <a:srgbClr val="618985"/>
                  </a:solidFill>
                  <a:latin typeface="Cambria"/>
                  <a:ea typeface="Cambria"/>
                  <a:cs typeface="Cambria"/>
                  <a:sym typeface="Cambria"/>
                </a:rPr>
                <a:t>Más parámetros para balancear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086975" y="7063740"/>
            <a:ext cx="7886700" cy="2125980"/>
            <a:chOff x="0" y="0"/>
            <a:chExt cx="10515600" cy="28346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515600" cy="2834640"/>
            </a:xfrm>
            <a:custGeom>
              <a:avLst/>
              <a:gdLst/>
              <a:ahLst/>
              <a:cxnLst/>
              <a:rect r="r" b="b" t="t" l="l"/>
              <a:pathLst>
                <a:path h="2834640" w="10515600">
                  <a:moveTo>
                    <a:pt x="0" y="0"/>
                  </a:moveTo>
                  <a:lnTo>
                    <a:pt x="10515600" y="0"/>
                  </a:lnTo>
                  <a:lnTo>
                    <a:pt x="10515600" y="2834640"/>
                  </a:lnTo>
                  <a:lnTo>
                    <a:pt x="0" y="28346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0388727" y="7331202"/>
            <a:ext cx="219456" cy="219456"/>
            <a:chOff x="0" y="0"/>
            <a:chExt cx="292608" cy="29260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96BBBB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0772775" y="7200900"/>
            <a:ext cx="6926580" cy="480060"/>
            <a:chOff x="0" y="0"/>
            <a:chExt cx="9235440" cy="6400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235440" cy="640080"/>
            </a:xfrm>
            <a:custGeom>
              <a:avLst/>
              <a:gdLst/>
              <a:ahLst/>
              <a:cxnLst/>
              <a:rect r="r" b="b" t="t" l="l"/>
              <a:pathLst>
                <a:path h="640080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141" r="0" b="-231141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923544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34382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Velocity tracking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0471023" y="7511415"/>
            <a:ext cx="7200900" cy="1181598"/>
            <a:chOff x="0" y="0"/>
            <a:chExt cx="9601200" cy="157546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601200" cy="1575463"/>
            </a:xfrm>
            <a:custGeom>
              <a:avLst/>
              <a:gdLst/>
              <a:ahLst/>
              <a:cxnLst/>
              <a:rect r="r" b="b" t="t" l="l"/>
              <a:pathLst>
                <a:path h="1575463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575463"/>
                  </a:lnTo>
                  <a:lnTo>
                    <a:pt x="0" y="157546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627" r="0" b="-44863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9601200" cy="16135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35"/>
                </a:lnSpc>
              </a:pPr>
              <a:r>
                <a:rPr lang="en-US" sz="1620" b="true">
                  <a:solidFill>
                    <a:srgbClr val="3F6E68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+ </a:t>
              </a:r>
              <a:r>
                <a:rPr lang="en-US" sz="1620">
                  <a:solidFill>
                    <a:srgbClr val="414535"/>
                  </a:solidFill>
                  <a:latin typeface="Cambria"/>
                  <a:ea typeface="Cambria"/>
                  <a:cs typeface="Cambria"/>
                  <a:sym typeface="Cambria"/>
                </a:rPr>
                <a:t>Objetivo fácil de interpretar, menos parámetros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0429875" y="8102214"/>
            <a:ext cx="7200900" cy="1181598"/>
            <a:chOff x="0" y="0"/>
            <a:chExt cx="9601200" cy="1575463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601200" cy="1575463"/>
            </a:xfrm>
            <a:custGeom>
              <a:avLst/>
              <a:gdLst/>
              <a:ahLst/>
              <a:cxnLst/>
              <a:rect r="r" b="b" t="t" l="l"/>
              <a:pathLst>
                <a:path h="1575463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575463"/>
                  </a:lnTo>
                  <a:lnTo>
                    <a:pt x="0" y="157546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725" r="0" b="-47765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9601200" cy="16135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35"/>
                </a:lnSpc>
              </a:pPr>
              <a:r>
                <a:rPr lang="en-US" sz="1620" b="true">
                  <a:solidFill>
                    <a:srgbClr val="61898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− </a:t>
              </a:r>
              <a:r>
                <a:rPr lang="en-US" sz="1620">
                  <a:solidFill>
                    <a:srgbClr val="618985"/>
                  </a:solidFill>
                  <a:latin typeface="Cambria"/>
                  <a:ea typeface="Cambria"/>
                  <a:cs typeface="Cambria"/>
                  <a:sym typeface="Cambria"/>
                </a:rPr>
                <a:t>Requiere más información en la observación y definición correcta del vector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60120" y="7259955"/>
            <a:ext cx="8915400" cy="1920240"/>
            <a:chOff x="0" y="0"/>
            <a:chExt cx="11887200" cy="25603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1887200" cy="2560320"/>
            </a:xfrm>
            <a:custGeom>
              <a:avLst/>
              <a:gdLst/>
              <a:ahLst/>
              <a:cxnLst/>
              <a:rect r="r" b="b" t="t" l="l"/>
              <a:pathLst>
                <a:path h="2560320" w="11887200">
                  <a:moveTo>
                    <a:pt x="0" y="0"/>
                  </a:moveTo>
                  <a:lnTo>
                    <a:pt x="11887200" y="0"/>
                  </a:lnTo>
                  <a:lnTo>
                    <a:pt x="1188720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6" r="0" b="-40466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04775"/>
              <a:ext cx="11887200" cy="2665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25"/>
                </a:lnSpc>
              </a:pPr>
              <a:r>
                <a:rPr lang="en-US" sz="1875" i="true">
                  <a:solidFill>
                    <a:srgbClr val="34382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Cada opción tiene sus pros y contras: la elección depende de si se prioriza simplicidad, estabilidad, suavidad de movimiento o velocidad de convergencia.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7327423" y="9601200"/>
            <a:ext cx="548640" cy="411480"/>
            <a:chOff x="0" y="0"/>
            <a:chExt cx="731520" cy="5486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A9A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14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754380"/>
            <a:ext cx="9601200" cy="480060"/>
            <a:chOff x="0" y="0"/>
            <a:chExt cx="128016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01600" cy="640080"/>
            </a:xfrm>
            <a:custGeom>
              <a:avLst/>
              <a:gdLst/>
              <a:ahLst/>
              <a:cxnLst/>
              <a:rect r="r" b="b" t="t" l="l"/>
              <a:pathLst>
                <a:path h="64008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016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AECFC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RESULTADOS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382905"/>
            <a:ext cx="16322040" cy="2965614"/>
            <a:chOff x="0" y="0"/>
            <a:chExt cx="21762720" cy="39541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62720" cy="3954152"/>
            </a:xfrm>
            <a:custGeom>
              <a:avLst/>
              <a:gdLst/>
              <a:ahLst/>
              <a:cxnLst/>
              <a:rect r="r" b="b" t="t" l="l"/>
              <a:pathLst>
                <a:path h="3954152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3954152"/>
                  </a:lnTo>
                  <a:lnTo>
                    <a:pt x="0" y="39541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428" r="0" b="-2805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762720" cy="39636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Mejores resultados - Política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2490928"/>
            <a:ext cx="5280660" cy="7521752"/>
            <a:chOff x="0" y="0"/>
            <a:chExt cx="7040880" cy="1002900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40880" cy="10029003"/>
            </a:xfrm>
            <a:custGeom>
              <a:avLst/>
              <a:gdLst/>
              <a:ahLst/>
              <a:cxnLst/>
              <a:rect r="r" b="b" t="t" l="l"/>
              <a:pathLst>
                <a:path h="10029003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10029003"/>
                  </a:lnTo>
                  <a:lnTo>
                    <a:pt x="0" y="10029003"/>
                  </a:lnTo>
                  <a:close/>
                </a:path>
              </a:pathLst>
            </a:custGeom>
            <a:solidFill>
              <a:srgbClr val="4E544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82414" y="3245725"/>
            <a:ext cx="4213536" cy="3501553"/>
            <a:chOff x="0" y="0"/>
            <a:chExt cx="6601968" cy="5486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601968" cy="5486400"/>
            </a:xfrm>
            <a:custGeom>
              <a:avLst/>
              <a:gdLst/>
              <a:ahLst/>
              <a:cxnLst/>
              <a:rect r="r" b="b" t="t" l="l"/>
              <a:pathLst>
                <a:path h="5486400" w="6601968">
                  <a:moveTo>
                    <a:pt x="0" y="0"/>
                  </a:moveTo>
                  <a:lnTo>
                    <a:pt x="6601968" y="0"/>
                  </a:lnTo>
                  <a:lnTo>
                    <a:pt x="6601968" y="5486400"/>
                  </a:lnTo>
                  <a:lnTo>
                    <a:pt x="0" y="54864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82414" y="3134818"/>
            <a:ext cx="4213536" cy="3620566"/>
            <a:chOff x="0" y="0"/>
            <a:chExt cx="6601968" cy="5672876"/>
          </a:xfrm>
        </p:grpSpPr>
        <p:sp>
          <p:nvSpPr>
            <p:cNvPr name="Freeform 13" id="13" descr="figs/fig8a_v1.png"/>
            <p:cNvSpPr/>
            <p:nvPr/>
          </p:nvSpPr>
          <p:spPr>
            <a:xfrm flipH="false" flipV="false" rot="0">
              <a:off x="0" y="0"/>
              <a:ext cx="6601968" cy="5672876"/>
            </a:xfrm>
            <a:custGeom>
              <a:avLst/>
              <a:gdLst/>
              <a:ahLst/>
              <a:cxnLst/>
              <a:rect r="r" b="b" t="t" l="l"/>
              <a:pathLst>
                <a:path h="5672876" w="6601968">
                  <a:moveTo>
                    <a:pt x="0" y="0"/>
                  </a:moveTo>
                  <a:lnTo>
                    <a:pt x="6601968" y="0"/>
                  </a:lnTo>
                  <a:lnTo>
                    <a:pt x="6601968" y="5672876"/>
                  </a:lnTo>
                  <a:lnTo>
                    <a:pt x="0" y="5672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8188" r="0" b="-8188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34440" y="2586178"/>
            <a:ext cx="4732020" cy="548640"/>
            <a:chOff x="0" y="0"/>
            <a:chExt cx="630936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09360" cy="731520"/>
            </a:xfrm>
            <a:custGeom>
              <a:avLst/>
              <a:gdLst/>
              <a:ahLst/>
              <a:cxnLst/>
              <a:rect r="r" b="b" t="t" l="l"/>
              <a:pathLst>
                <a:path h="73152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058" r="0" b="-11805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63093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V1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515100" y="2490928"/>
            <a:ext cx="5280660" cy="7521752"/>
            <a:chOff x="0" y="0"/>
            <a:chExt cx="7040880" cy="1002900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040880" cy="10029003"/>
            </a:xfrm>
            <a:custGeom>
              <a:avLst/>
              <a:gdLst/>
              <a:ahLst/>
              <a:cxnLst/>
              <a:rect r="r" b="b" t="t" l="l"/>
              <a:pathLst>
                <a:path h="10029003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10029003"/>
                  </a:lnTo>
                  <a:lnTo>
                    <a:pt x="0" y="10029003"/>
                  </a:lnTo>
                  <a:close/>
                </a:path>
              </a:pathLst>
            </a:custGeom>
            <a:solidFill>
              <a:srgbClr val="4E5442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7037232" y="3237620"/>
            <a:ext cx="4213536" cy="3501553"/>
            <a:chOff x="0" y="0"/>
            <a:chExt cx="6601968" cy="5486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601968" cy="5486400"/>
            </a:xfrm>
            <a:custGeom>
              <a:avLst/>
              <a:gdLst/>
              <a:ahLst/>
              <a:cxnLst/>
              <a:rect r="r" b="b" t="t" l="l"/>
              <a:pathLst>
                <a:path h="5486400" w="6601968">
                  <a:moveTo>
                    <a:pt x="0" y="0"/>
                  </a:moveTo>
                  <a:lnTo>
                    <a:pt x="6601968" y="0"/>
                  </a:lnTo>
                  <a:lnTo>
                    <a:pt x="6601968" y="5486400"/>
                  </a:lnTo>
                  <a:lnTo>
                    <a:pt x="0" y="54864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7037232" y="3134818"/>
            <a:ext cx="4213536" cy="3612461"/>
            <a:chOff x="0" y="0"/>
            <a:chExt cx="6601968" cy="5660176"/>
          </a:xfrm>
        </p:grpSpPr>
        <p:sp>
          <p:nvSpPr>
            <p:cNvPr name="Freeform 22" id="22" descr="figs/fig8b_kang.png"/>
            <p:cNvSpPr/>
            <p:nvPr/>
          </p:nvSpPr>
          <p:spPr>
            <a:xfrm flipH="false" flipV="false" rot="0">
              <a:off x="0" y="0"/>
              <a:ext cx="6601968" cy="5660176"/>
            </a:xfrm>
            <a:custGeom>
              <a:avLst/>
              <a:gdLst/>
              <a:ahLst/>
              <a:cxnLst/>
              <a:rect r="r" b="b" t="t" l="l"/>
              <a:pathLst>
                <a:path h="5660176" w="6601968">
                  <a:moveTo>
                    <a:pt x="0" y="0"/>
                  </a:moveTo>
                  <a:lnTo>
                    <a:pt x="6601968" y="0"/>
                  </a:lnTo>
                  <a:lnTo>
                    <a:pt x="6601968" y="5660176"/>
                  </a:lnTo>
                  <a:lnTo>
                    <a:pt x="0" y="56601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8319" r="0" b="-8319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789420" y="2034599"/>
            <a:ext cx="4732020" cy="1651797"/>
            <a:chOff x="0" y="0"/>
            <a:chExt cx="6309360" cy="220239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309360" cy="2202396"/>
            </a:xfrm>
            <a:custGeom>
              <a:avLst/>
              <a:gdLst/>
              <a:ahLst/>
              <a:cxnLst/>
              <a:rect r="r" b="b" t="t" l="l"/>
              <a:pathLst>
                <a:path h="2202396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2202396"/>
                  </a:lnTo>
                  <a:lnTo>
                    <a:pt x="0" y="22023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212" r="0" b="2757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6309360" cy="22214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k</a:t>
              </a: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</a:t>
              </a: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 = 0.1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070080" y="2490928"/>
            <a:ext cx="5280660" cy="7521752"/>
            <a:chOff x="0" y="0"/>
            <a:chExt cx="7040880" cy="1002900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040880" cy="10029003"/>
            </a:xfrm>
            <a:custGeom>
              <a:avLst/>
              <a:gdLst/>
              <a:ahLst/>
              <a:cxnLst/>
              <a:rect r="r" b="b" t="t" l="l"/>
              <a:pathLst>
                <a:path h="10029003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10029003"/>
                  </a:lnTo>
                  <a:lnTo>
                    <a:pt x="0" y="10029003"/>
                  </a:lnTo>
                  <a:close/>
                </a:path>
              </a:pathLst>
            </a:custGeom>
            <a:solidFill>
              <a:srgbClr val="4E5442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595860" y="3237620"/>
            <a:ext cx="4213536" cy="3501553"/>
            <a:chOff x="0" y="0"/>
            <a:chExt cx="6601968" cy="5486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601968" cy="5486400"/>
            </a:xfrm>
            <a:custGeom>
              <a:avLst/>
              <a:gdLst/>
              <a:ahLst/>
              <a:cxnLst/>
              <a:rect r="r" b="b" t="t" l="l"/>
              <a:pathLst>
                <a:path h="5486400" w="6601968">
                  <a:moveTo>
                    <a:pt x="0" y="0"/>
                  </a:moveTo>
                  <a:lnTo>
                    <a:pt x="6601968" y="0"/>
                  </a:lnTo>
                  <a:lnTo>
                    <a:pt x="6601968" y="5486400"/>
                  </a:lnTo>
                  <a:lnTo>
                    <a:pt x="0" y="54864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2595860" y="3134818"/>
            <a:ext cx="4213536" cy="3612461"/>
            <a:chOff x="0" y="0"/>
            <a:chExt cx="6601968" cy="5660176"/>
          </a:xfrm>
        </p:grpSpPr>
        <p:sp>
          <p:nvSpPr>
            <p:cNvPr name="Freeform 31" id="31" descr="figs/fig8c_velocity.png"/>
            <p:cNvSpPr/>
            <p:nvPr/>
          </p:nvSpPr>
          <p:spPr>
            <a:xfrm flipH="false" flipV="false" rot="0">
              <a:off x="0" y="0"/>
              <a:ext cx="6601968" cy="5660176"/>
            </a:xfrm>
            <a:custGeom>
              <a:avLst/>
              <a:gdLst/>
              <a:ahLst/>
              <a:cxnLst/>
              <a:rect r="r" b="b" t="t" l="l"/>
              <a:pathLst>
                <a:path h="5660176" w="6601968">
                  <a:moveTo>
                    <a:pt x="0" y="0"/>
                  </a:moveTo>
                  <a:lnTo>
                    <a:pt x="6601968" y="0"/>
                  </a:lnTo>
                  <a:lnTo>
                    <a:pt x="6601968" y="5660176"/>
                  </a:lnTo>
                  <a:lnTo>
                    <a:pt x="0" y="56601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8319" r="0" b="-8319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344400" y="2586178"/>
            <a:ext cx="4732020" cy="548640"/>
            <a:chOff x="0" y="0"/>
            <a:chExt cx="6309360" cy="731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309360" cy="731520"/>
            </a:xfrm>
            <a:custGeom>
              <a:avLst/>
              <a:gdLst/>
              <a:ahLst/>
              <a:cxnLst/>
              <a:rect r="r" b="b" t="t" l="l"/>
              <a:pathLst>
                <a:path h="73152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058" r="0" b="-118058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63093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Velocity tracking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7327423" y="9601200"/>
            <a:ext cx="548640" cy="411480"/>
            <a:chOff x="0" y="0"/>
            <a:chExt cx="731520" cy="5486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8A9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13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595860" y="7200335"/>
            <a:ext cx="4229372" cy="2340965"/>
            <a:chOff x="0" y="0"/>
            <a:chExt cx="10515600" cy="582040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515600" cy="5820402"/>
            </a:xfrm>
            <a:custGeom>
              <a:avLst/>
              <a:gdLst/>
              <a:ahLst/>
              <a:cxnLst/>
              <a:rect r="r" b="b" t="t" l="l"/>
              <a:pathLst>
                <a:path h="5820402" w="10515600">
                  <a:moveTo>
                    <a:pt x="0" y="0"/>
                  </a:moveTo>
                  <a:lnTo>
                    <a:pt x="10515600" y="0"/>
                  </a:lnTo>
                  <a:lnTo>
                    <a:pt x="10515600" y="5820402"/>
                  </a:lnTo>
                  <a:lnTo>
                    <a:pt x="0" y="5820402"/>
                  </a:lnTo>
                  <a:close/>
                </a:path>
              </a:pathLst>
            </a:custGeom>
            <a:blipFill>
              <a:blip r:embed="rId7"/>
              <a:stretch>
                <a:fillRect l="0" t="-3550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7037232" y="7200335"/>
            <a:ext cx="4213536" cy="2340965"/>
            <a:chOff x="0" y="0"/>
            <a:chExt cx="12622572" cy="7012875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2622572" cy="7012874"/>
            </a:xfrm>
            <a:custGeom>
              <a:avLst/>
              <a:gdLst/>
              <a:ahLst/>
              <a:cxnLst/>
              <a:rect r="r" b="b" t="t" l="l"/>
              <a:pathLst>
                <a:path h="7012874" w="12622572">
                  <a:moveTo>
                    <a:pt x="0" y="0"/>
                  </a:moveTo>
                  <a:lnTo>
                    <a:pt x="12622572" y="0"/>
                  </a:lnTo>
                  <a:lnTo>
                    <a:pt x="12622572" y="7012874"/>
                  </a:lnTo>
                  <a:lnTo>
                    <a:pt x="0" y="7012874"/>
                  </a:lnTo>
                  <a:close/>
                </a:path>
              </a:pathLst>
            </a:custGeom>
            <a:blipFill>
              <a:blip r:embed="rId8"/>
              <a:stretch>
                <a:fillRect l="0" t="-34993" r="0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482414" y="7200335"/>
            <a:ext cx="4278306" cy="2340965"/>
            <a:chOff x="0" y="0"/>
            <a:chExt cx="10515600" cy="575383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515600" cy="5753831"/>
            </a:xfrm>
            <a:custGeom>
              <a:avLst/>
              <a:gdLst/>
              <a:ahLst/>
              <a:cxnLst/>
              <a:rect r="r" b="b" t="t" l="l"/>
              <a:pathLst>
                <a:path h="5753831" w="10515600">
                  <a:moveTo>
                    <a:pt x="0" y="0"/>
                  </a:moveTo>
                  <a:lnTo>
                    <a:pt x="10515600" y="0"/>
                  </a:lnTo>
                  <a:lnTo>
                    <a:pt x="10515600" y="5753831"/>
                  </a:lnTo>
                  <a:lnTo>
                    <a:pt x="0" y="5753831"/>
                  </a:lnTo>
                  <a:close/>
                </a:path>
              </a:pathLst>
            </a:custGeom>
            <a:blipFill>
              <a:blip r:embed="rId9"/>
              <a:stretch>
                <a:fillRect l="0" t="-37068" r="0" b="0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14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754380"/>
            <a:ext cx="9601200" cy="480060"/>
            <a:chOff x="0" y="0"/>
            <a:chExt cx="128016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01600" cy="640080"/>
            </a:xfrm>
            <a:custGeom>
              <a:avLst/>
              <a:gdLst/>
              <a:ahLst/>
              <a:cxnLst/>
              <a:rect r="r" b="b" t="t" l="l"/>
              <a:pathLst>
                <a:path h="64008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016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AECFC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TRABAJO FUTURO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62133"/>
            <a:ext cx="4598888" cy="3516213"/>
            <a:chOff x="0" y="0"/>
            <a:chExt cx="6131850" cy="468828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131850" cy="4688284"/>
            </a:xfrm>
            <a:custGeom>
              <a:avLst/>
              <a:gdLst/>
              <a:ahLst/>
              <a:cxnLst/>
              <a:rect r="r" b="b" t="t" l="l"/>
              <a:pathLst>
                <a:path h="4688284" w="6131850">
                  <a:moveTo>
                    <a:pt x="0" y="0"/>
                  </a:moveTo>
                  <a:lnTo>
                    <a:pt x="6131850" y="0"/>
                  </a:lnTo>
                  <a:lnTo>
                    <a:pt x="6131850" y="4688284"/>
                  </a:lnTo>
                  <a:lnTo>
                    <a:pt x="0" y="46882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894" r="-254912" b="-800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6131850" cy="46978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Próximos pasos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2948940"/>
            <a:ext cx="5280660" cy="5692140"/>
            <a:chOff x="0" y="0"/>
            <a:chExt cx="7040880" cy="7589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40880" cy="7589520"/>
            </a:xfrm>
            <a:custGeom>
              <a:avLst/>
              <a:gdLst/>
              <a:ahLst/>
              <a:cxnLst/>
              <a:rect r="r" b="b" t="t" l="l"/>
              <a:pathLst>
                <a:path h="7589520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7589520"/>
                  </a:lnTo>
                  <a:lnTo>
                    <a:pt x="0" y="7589520"/>
                  </a:lnTo>
                  <a:close/>
                </a:path>
              </a:pathLst>
            </a:custGeom>
            <a:solidFill>
              <a:srgbClr val="4E544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983230" y="3497580"/>
            <a:ext cx="1234440" cy="1234440"/>
            <a:chOff x="0" y="0"/>
            <a:chExt cx="1645920" cy="16459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3A3E3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3304184" y="3818534"/>
            <a:ext cx="592531" cy="592531"/>
            <a:chOff x="0" y="0"/>
            <a:chExt cx="790042" cy="790042"/>
          </a:xfrm>
        </p:grpSpPr>
        <p:sp>
          <p:nvSpPr>
            <p:cNvPr name="Freeform 13" id="13" descr="icons/sliders_white.png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3" b="3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03020" y="3291840"/>
            <a:ext cx="1371600" cy="548640"/>
            <a:chOff x="0" y="0"/>
            <a:chExt cx="182880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28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18288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B98C6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71600" y="5074920"/>
            <a:ext cx="4457700" cy="1028700"/>
            <a:chOff x="0" y="0"/>
            <a:chExt cx="5943600" cy="1371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943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594360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Búsqueda sistemática de hiperparámetros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71600" y="6172200"/>
            <a:ext cx="4457700" cy="2194560"/>
            <a:chOff x="0" y="0"/>
            <a:chExt cx="5943600" cy="29260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9436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164" t="0" r="-13164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85725"/>
              <a:ext cx="5943600" cy="3011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87"/>
                </a:lnSpc>
              </a:pPr>
              <a:r>
                <a:rPr lang="en-US" sz="1725">
                  <a:solidFill>
                    <a:srgbClr val="C3CB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Incorporar métodos automáticos para encontrar cada término de la función de recompensa.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515100" y="2948940"/>
            <a:ext cx="5280660" cy="5692140"/>
            <a:chOff x="0" y="0"/>
            <a:chExt cx="7040880" cy="7589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040880" cy="7589520"/>
            </a:xfrm>
            <a:custGeom>
              <a:avLst/>
              <a:gdLst/>
              <a:ahLst/>
              <a:cxnLst/>
              <a:rect r="r" b="b" t="t" l="l"/>
              <a:pathLst>
                <a:path h="7589520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7589520"/>
                  </a:lnTo>
                  <a:lnTo>
                    <a:pt x="0" y="7589520"/>
                  </a:lnTo>
                  <a:close/>
                </a:path>
              </a:pathLst>
            </a:custGeom>
            <a:solidFill>
              <a:srgbClr val="4E5442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538210" y="3497580"/>
            <a:ext cx="1234440" cy="1234440"/>
            <a:chOff x="0" y="0"/>
            <a:chExt cx="1645920" cy="16459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3A3E30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859164" y="3818534"/>
            <a:ext cx="592531" cy="592531"/>
            <a:chOff x="0" y="0"/>
            <a:chExt cx="790042" cy="790042"/>
          </a:xfrm>
        </p:grpSpPr>
        <p:sp>
          <p:nvSpPr>
            <p:cNvPr name="Freeform 28" id="28" descr="icons/cube_white.png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3" b="3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6858000" y="3291840"/>
            <a:ext cx="1371600" cy="548640"/>
            <a:chOff x="0" y="0"/>
            <a:chExt cx="1828800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828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18288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B98C6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02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926580" y="5074920"/>
            <a:ext cx="4457700" cy="1028700"/>
            <a:chOff x="0" y="0"/>
            <a:chExt cx="5943600" cy="13716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943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594360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Validación sim-to-real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926580" y="6172200"/>
            <a:ext cx="4457700" cy="2194560"/>
            <a:chOff x="0" y="0"/>
            <a:chExt cx="5943600" cy="29260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9436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164" t="0" r="-13164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85725"/>
              <a:ext cx="5943600" cy="3011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87"/>
                </a:lnSpc>
              </a:pPr>
              <a:r>
                <a:rPr lang="en-US" sz="1725">
                  <a:solidFill>
                    <a:srgbClr val="C3CB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Transferir la política entrenada a un dron físico y evaluar su comportamiento estacionando sobre un TurtleBot4 real.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100560" y="2948940"/>
            <a:ext cx="5280660" cy="5692140"/>
            <a:chOff x="0" y="0"/>
            <a:chExt cx="7040880" cy="7589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040880" cy="7589520"/>
            </a:xfrm>
            <a:custGeom>
              <a:avLst/>
              <a:gdLst/>
              <a:ahLst/>
              <a:cxnLst/>
              <a:rect r="r" b="b" t="t" l="l"/>
              <a:pathLst>
                <a:path h="7589520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7589520"/>
                  </a:lnTo>
                  <a:lnTo>
                    <a:pt x="0" y="7589520"/>
                  </a:lnTo>
                  <a:close/>
                </a:path>
              </a:pathLst>
            </a:custGeom>
            <a:solidFill>
              <a:srgbClr val="4E5442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4093190" y="3497580"/>
            <a:ext cx="1234440" cy="1234440"/>
            <a:chOff x="0" y="0"/>
            <a:chExt cx="1645920" cy="16459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3A3E30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4414144" y="3818534"/>
            <a:ext cx="592531" cy="592531"/>
            <a:chOff x="0" y="0"/>
            <a:chExt cx="790042" cy="790042"/>
          </a:xfrm>
        </p:grpSpPr>
        <p:sp>
          <p:nvSpPr>
            <p:cNvPr name="Freeform 43" id="43" descr="icons/water_white.png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3" b="3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2412980" y="3291840"/>
            <a:ext cx="1371600" cy="548640"/>
            <a:chOff x="0" y="0"/>
            <a:chExt cx="1828800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828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18288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B98C6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03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2481560" y="5074920"/>
            <a:ext cx="4457700" cy="1028700"/>
            <a:chOff x="0" y="0"/>
            <a:chExt cx="5943600" cy="13716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943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594360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Escenario final: balsa móvil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2481560" y="6172200"/>
            <a:ext cx="4457700" cy="2194560"/>
            <a:chOff x="0" y="0"/>
            <a:chExt cx="5943600" cy="29260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9436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164" t="0" r="-13164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85725"/>
              <a:ext cx="5943600" cy="3011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87"/>
                </a:lnSpc>
              </a:pPr>
              <a:r>
                <a:rPr lang="en-US" sz="1725">
                  <a:solidFill>
                    <a:srgbClr val="C3CB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Extender el entorno a una plataforma sobre agua, con oleaje, corrientes, viento y movimientos angulares menos predecibles.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7327423" y="9601200"/>
            <a:ext cx="548640" cy="411480"/>
            <a:chOff x="0" y="0"/>
            <a:chExt cx="731520" cy="5486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8A9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14</a:t>
              </a:r>
            </a:p>
          </p:txBody>
        </p:sp>
      </p:grpSp>
      <p:sp>
        <p:nvSpPr>
          <p:cNvPr name="Freeform 56" id="56"/>
          <p:cNvSpPr/>
          <p:nvPr/>
        </p:nvSpPr>
        <p:spPr>
          <a:xfrm flipH="false" flipV="false" rot="0">
            <a:off x="15531647" y="0"/>
            <a:ext cx="2744923" cy="2744923"/>
          </a:xfrm>
          <a:custGeom>
            <a:avLst/>
            <a:gdLst/>
            <a:ahLst/>
            <a:cxnLst/>
            <a:rect r="r" b="b" t="t" l="l"/>
            <a:pathLst>
              <a:path h="2744923" w="2744923">
                <a:moveTo>
                  <a:pt x="0" y="0"/>
                </a:moveTo>
                <a:lnTo>
                  <a:pt x="2744923" y="0"/>
                </a:lnTo>
                <a:lnTo>
                  <a:pt x="2744923" y="2744923"/>
                </a:lnTo>
                <a:lnTo>
                  <a:pt x="0" y="274492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3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327423" y="9601200"/>
            <a:ext cx="548640" cy="411480"/>
            <a:chOff x="0" y="0"/>
            <a:chExt cx="73152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A9A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17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107135" y="3470086"/>
            <a:ext cx="12540413" cy="1886206"/>
            <a:chOff x="0" y="0"/>
            <a:chExt cx="3302825" cy="4967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302825" cy="496778"/>
            </a:xfrm>
            <a:custGeom>
              <a:avLst/>
              <a:gdLst/>
              <a:ahLst/>
              <a:cxnLst/>
              <a:rect r="r" b="b" t="t" l="l"/>
              <a:pathLst>
                <a:path h="496778" w="3302825">
                  <a:moveTo>
                    <a:pt x="0" y="0"/>
                  </a:moveTo>
                  <a:lnTo>
                    <a:pt x="3302825" y="0"/>
                  </a:lnTo>
                  <a:lnTo>
                    <a:pt x="3302825" y="496778"/>
                  </a:lnTo>
                  <a:lnTo>
                    <a:pt x="0" y="496778"/>
                  </a:lnTo>
                  <a:close/>
                </a:path>
              </a:pathLst>
            </a:custGeom>
            <a:solidFill>
              <a:srgbClr val="41453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3302825" cy="5158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107135" y="3361103"/>
            <a:ext cx="12540413" cy="2099017"/>
            <a:chOff x="0" y="0"/>
            <a:chExt cx="16679495" cy="279181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679495" cy="2791817"/>
            </a:xfrm>
            <a:custGeom>
              <a:avLst/>
              <a:gdLst/>
              <a:ahLst/>
              <a:cxnLst/>
              <a:rect r="r" b="b" t="t" l="l"/>
              <a:pathLst>
                <a:path h="2791817" w="16679495">
                  <a:moveTo>
                    <a:pt x="0" y="0"/>
                  </a:moveTo>
                  <a:lnTo>
                    <a:pt x="16679495" y="0"/>
                  </a:lnTo>
                  <a:lnTo>
                    <a:pt x="16679495" y="2791817"/>
                  </a:lnTo>
                  <a:lnTo>
                    <a:pt x="0" y="27918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109" r="-16953" b="-8418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09550"/>
              <a:ext cx="16679495" cy="30013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480"/>
                </a:lnSpc>
              </a:pPr>
              <a:r>
                <a:rPr lang="en-US" sz="10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¡Gracias!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828800" y="5783961"/>
            <a:ext cx="14630400" cy="694944"/>
            <a:chOff x="0" y="0"/>
            <a:chExt cx="19507200" cy="92659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507200" cy="926592"/>
            </a:xfrm>
            <a:custGeom>
              <a:avLst/>
              <a:gdLst/>
              <a:ahLst/>
              <a:cxnLst/>
              <a:rect r="r" b="b" t="t" l="l"/>
              <a:pathLst>
                <a:path h="926592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211" r="0" b="-36021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950720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41453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Lucio Luque Materazzi  ·  lluquematerazzi@udesa.edu.ar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828800" y="6375654"/>
            <a:ext cx="14630400" cy="694944"/>
            <a:chOff x="0" y="0"/>
            <a:chExt cx="19507200" cy="92659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507200" cy="926592"/>
            </a:xfrm>
            <a:custGeom>
              <a:avLst/>
              <a:gdLst/>
              <a:ahLst/>
              <a:cxnLst/>
              <a:rect r="r" b="b" t="t" l="l"/>
              <a:pathLst>
                <a:path h="926592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211" r="0" b="-36021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50720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41453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Teo Manuel Kaucher  ·  tkaucher@udesa.edu.ar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828800" y="7270623"/>
            <a:ext cx="14630400" cy="694944"/>
            <a:chOff x="0" y="0"/>
            <a:chExt cx="19507200" cy="9265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507200" cy="926592"/>
            </a:xfrm>
            <a:custGeom>
              <a:avLst/>
              <a:gdLst/>
              <a:ahLst/>
              <a:cxnLst/>
              <a:rect r="r" b="b" t="t" l="l"/>
              <a:pathLst>
                <a:path h="926592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211" r="0" b="-36021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950720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34382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I4</a:t>
              </a:r>
              <a:r>
                <a:rPr lang="en-US" sz="2200">
                  <a:solidFill>
                    <a:srgbClr val="34382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04 · Aprendizaje reforzado  ·  Universidad de San Andrés  ·  Otoño 2026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true" flipV="false" rot="0">
            <a:off x="7841288" y="7794498"/>
            <a:ext cx="4058618" cy="4058618"/>
          </a:xfrm>
          <a:custGeom>
            <a:avLst/>
            <a:gdLst/>
            <a:ahLst/>
            <a:cxnLst/>
            <a:rect r="r" b="b" t="t" l="l"/>
            <a:pathLst>
              <a:path h="4058618" w="4058618">
                <a:moveTo>
                  <a:pt x="4058618" y="0"/>
                </a:moveTo>
                <a:lnTo>
                  <a:pt x="0" y="0"/>
                </a:lnTo>
                <a:lnTo>
                  <a:pt x="0" y="4058618"/>
                </a:lnTo>
                <a:lnTo>
                  <a:pt x="4058618" y="4058618"/>
                </a:lnTo>
                <a:lnTo>
                  <a:pt x="4058618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-6023870" y="-2808658"/>
            <a:ext cx="10768818" cy="5870851"/>
          </a:xfrm>
          <a:custGeom>
            <a:avLst/>
            <a:gdLst/>
            <a:ahLst/>
            <a:cxnLst/>
            <a:rect r="r" b="b" t="t" l="l"/>
            <a:pathLst>
              <a:path h="5870851" w="10768818">
                <a:moveTo>
                  <a:pt x="0" y="0"/>
                </a:moveTo>
                <a:lnTo>
                  <a:pt x="10768817" y="0"/>
                </a:lnTo>
                <a:lnTo>
                  <a:pt x="10768817" y="5870851"/>
                </a:lnTo>
                <a:lnTo>
                  <a:pt x="0" y="58708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2603587" y="-361205"/>
            <a:ext cx="10768818" cy="5870851"/>
          </a:xfrm>
          <a:custGeom>
            <a:avLst/>
            <a:gdLst/>
            <a:ahLst/>
            <a:cxnLst/>
            <a:rect r="r" b="b" t="t" l="l"/>
            <a:pathLst>
              <a:path h="5870851" w="10768818">
                <a:moveTo>
                  <a:pt x="0" y="0"/>
                </a:moveTo>
                <a:lnTo>
                  <a:pt x="10768818" y="0"/>
                </a:lnTo>
                <a:lnTo>
                  <a:pt x="10768818" y="5870851"/>
                </a:lnTo>
                <a:lnTo>
                  <a:pt x="0" y="58708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-1794234" y="7784973"/>
            <a:ext cx="9527817" cy="5629352"/>
          </a:xfrm>
          <a:custGeom>
            <a:avLst/>
            <a:gdLst/>
            <a:ahLst/>
            <a:cxnLst/>
            <a:rect r="r" b="b" t="t" l="l"/>
            <a:pathLst>
              <a:path h="5629352" w="9527817">
                <a:moveTo>
                  <a:pt x="0" y="0"/>
                </a:moveTo>
                <a:lnTo>
                  <a:pt x="9527817" y="0"/>
                </a:lnTo>
                <a:lnTo>
                  <a:pt x="9527817" y="5629352"/>
                </a:lnTo>
                <a:lnTo>
                  <a:pt x="0" y="56293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9377341" y="5949448"/>
            <a:ext cx="15219856" cy="7609928"/>
          </a:xfrm>
          <a:custGeom>
            <a:avLst/>
            <a:gdLst/>
            <a:ahLst/>
            <a:cxnLst/>
            <a:rect r="r" b="b" t="t" l="l"/>
            <a:pathLst>
              <a:path h="7609928" w="15219856">
                <a:moveTo>
                  <a:pt x="0" y="0"/>
                </a:moveTo>
                <a:lnTo>
                  <a:pt x="15219856" y="0"/>
                </a:lnTo>
                <a:lnTo>
                  <a:pt x="15219856" y="7609928"/>
                </a:lnTo>
                <a:lnTo>
                  <a:pt x="0" y="760992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-785475" y="-2327573"/>
            <a:ext cx="11206287" cy="4783171"/>
          </a:xfrm>
          <a:custGeom>
            <a:avLst/>
            <a:gdLst/>
            <a:ahLst/>
            <a:cxnLst/>
            <a:rect r="r" b="b" t="t" l="l"/>
            <a:pathLst>
              <a:path h="4783171" w="11206287">
                <a:moveTo>
                  <a:pt x="0" y="0"/>
                </a:moveTo>
                <a:lnTo>
                  <a:pt x="11206287" y="0"/>
                </a:lnTo>
                <a:lnTo>
                  <a:pt x="11206287" y="4783171"/>
                </a:lnTo>
                <a:lnTo>
                  <a:pt x="0" y="478317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3564611" y="3715717"/>
            <a:ext cx="2360673" cy="1394943"/>
          </a:xfrm>
          <a:custGeom>
            <a:avLst/>
            <a:gdLst/>
            <a:ahLst/>
            <a:cxnLst/>
            <a:rect r="r" b="b" t="t" l="l"/>
            <a:pathLst>
              <a:path h="1394943" w="2360673">
                <a:moveTo>
                  <a:pt x="0" y="0"/>
                </a:moveTo>
                <a:lnTo>
                  <a:pt x="2360673" y="0"/>
                </a:lnTo>
                <a:lnTo>
                  <a:pt x="2360673" y="1394943"/>
                </a:lnTo>
                <a:lnTo>
                  <a:pt x="0" y="139494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true" flipV="false" rot="0">
            <a:off x="12603587" y="3713140"/>
            <a:ext cx="2360673" cy="1394943"/>
          </a:xfrm>
          <a:custGeom>
            <a:avLst/>
            <a:gdLst/>
            <a:ahLst/>
            <a:cxnLst/>
            <a:rect r="r" b="b" t="t" l="l"/>
            <a:pathLst>
              <a:path h="1394943" w="2360673">
                <a:moveTo>
                  <a:pt x="2360673" y="0"/>
                </a:moveTo>
                <a:lnTo>
                  <a:pt x="0" y="0"/>
                </a:lnTo>
                <a:lnTo>
                  <a:pt x="0" y="1394943"/>
                </a:lnTo>
                <a:lnTo>
                  <a:pt x="2360673" y="1394943"/>
                </a:lnTo>
                <a:lnTo>
                  <a:pt x="2360673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F38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327423" y="9601200"/>
            <a:ext cx="548640" cy="411480"/>
            <a:chOff x="0" y="0"/>
            <a:chExt cx="73152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A9A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15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134265" y="0"/>
            <a:ext cx="18422265" cy="10290562"/>
          </a:xfrm>
          <a:custGeom>
            <a:avLst/>
            <a:gdLst/>
            <a:ahLst/>
            <a:cxnLst/>
            <a:rect r="r" b="b" t="t" l="l"/>
            <a:pathLst>
              <a:path h="10290562" w="18422265">
                <a:moveTo>
                  <a:pt x="0" y="0"/>
                </a:moveTo>
                <a:lnTo>
                  <a:pt x="18422265" y="0"/>
                </a:lnTo>
                <a:lnTo>
                  <a:pt x="18422265" y="10290562"/>
                </a:lnTo>
                <a:lnTo>
                  <a:pt x="0" y="102905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425160" y="1326042"/>
            <a:ext cx="2005443" cy="2259484"/>
            <a:chOff x="0" y="0"/>
            <a:chExt cx="1785501" cy="20116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85501" cy="2011680"/>
            </a:xfrm>
            <a:custGeom>
              <a:avLst/>
              <a:gdLst/>
              <a:ahLst/>
              <a:cxnLst/>
              <a:rect r="r" b="b" t="t" l="l"/>
              <a:pathLst>
                <a:path h="2011680" w="1785501">
                  <a:moveTo>
                    <a:pt x="0" y="1005840"/>
                  </a:moveTo>
                  <a:cubicBezTo>
                    <a:pt x="0" y="450342"/>
                    <a:pt x="399709" y="0"/>
                    <a:pt x="892750" y="0"/>
                  </a:cubicBezTo>
                  <a:cubicBezTo>
                    <a:pt x="1385792" y="0"/>
                    <a:pt x="1785501" y="450342"/>
                    <a:pt x="1785501" y="1005840"/>
                  </a:cubicBezTo>
                  <a:cubicBezTo>
                    <a:pt x="1785501" y="1561338"/>
                    <a:pt x="1385792" y="2011680"/>
                    <a:pt x="892750" y="2011680"/>
                  </a:cubicBezTo>
                  <a:cubicBezTo>
                    <a:pt x="399709" y="2011680"/>
                    <a:pt x="0" y="1561338"/>
                    <a:pt x="0" y="1005840"/>
                  </a:cubicBezTo>
                  <a:close/>
                </a:path>
              </a:pathLst>
            </a:custGeom>
            <a:blipFill>
              <a:blip r:embed="rId5"/>
              <a:stretch>
                <a:fillRect l="-6333" t="0" r="-6333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-12697" y="10137143"/>
            <a:ext cx="18313403" cy="153419"/>
            <a:chOff x="0" y="0"/>
            <a:chExt cx="24417871" cy="20455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417910" cy="204597"/>
            </a:xfrm>
            <a:custGeom>
              <a:avLst/>
              <a:gdLst/>
              <a:ahLst/>
              <a:cxnLst/>
              <a:rect r="r" b="b" t="t" l="l"/>
              <a:pathLst>
                <a:path h="20459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04597"/>
                  </a:lnTo>
                  <a:lnTo>
                    <a:pt x="0" y="204597"/>
                  </a:lnTo>
                  <a:close/>
                </a:path>
              </a:pathLst>
            </a:custGeom>
            <a:solidFill>
              <a:srgbClr val="C8A84B"/>
            </a:solidFill>
            <a:ln w="25400" cap="sq">
              <a:solidFill>
                <a:srgbClr val="C8A84B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7327423" y="9601200"/>
            <a:ext cx="548640" cy="411480"/>
            <a:chOff x="0" y="0"/>
            <a:chExt cx="73152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A9A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15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true" flipV="false" rot="0">
            <a:off x="7841288" y="7794498"/>
            <a:ext cx="4058618" cy="4058618"/>
          </a:xfrm>
          <a:custGeom>
            <a:avLst/>
            <a:gdLst/>
            <a:ahLst/>
            <a:cxnLst/>
            <a:rect r="r" b="b" t="t" l="l"/>
            <a:pathLst>
              <a:path h="4058618" w="4058618">
                <a:moveTo>
                  <a:pt x="4058618" y="0"/>
                </a:moveTo>
                <a:lnTo>
                  <a:pt x="0" y="0"/>
                </a:lnTo>
                <a:lnTo>
                  <a:pt x="0" y="4058618"/>
                </a:lnTo>
                <a:lnTo>
                  <a:pt x="4058618" y="4058618"/>
                </a:lnTo>
                <a:lnTo>
                  <a:pt x="4058618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-12697" y="-12697"/>
            <a:ext cx="18313403" cy="153419"/>
            <a:chOff x="0" y="0"/>
            <a:chExt cx="24417871" cy="20455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417910" cy="204597"/>
            </a:xfrm>
            <a:custGeom>
              <a:avLst/>
              <a:gdLst/>
              <a:ahLst/>
              <a:cxnLst/>
              <a:rect r="r" b="b" t="t" l="l"/>
              <a:pathLst>
                <a:path h="20459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04597"/>
                  </a:lnTo>
                  <a:lnTo>
                    <a:pt x="0" y="204597"/>
                  </a:lnTo>
                  <a:close/>
                </a:path>
              </a:pathLst>
            </a:custGeom>
            <a:solidFill>
              <a:srgbClr val="C8A84B"/>
            </a:solidFill>
            <a:ln w="25400" cap="sq">
              <a:solidFill>
                <a:srgbClr val="C8A84B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-12697" y="10137143"/>
            <a:ext cx="18313403" cy="153419"/>
            <a:chOff x="0" y="0"/>
            <a:chExt cx="24417871" cy="20455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417910" cy="204597"/>
            </a:xfrm>
            <a:custGeom>
              <a:avLst/>
              <a:gdLst/>
              <a:ahLst/>
              <a:cxnLst/>
              <a:rect r="r" b="b" t="t" l="l"/>
              <a:pathLst>
                <a:path h="20459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04597"/>
                  </a:lnTo>
                  <a:lnTo>
                    <a:pt x="0" y="204597"/>
                  </a:lnTo>
                  <a:close/>
                </a:path>
              </a:pathLst>
            </a:custGeom>
            <a:solidFill>
              <a:srgbClr val="C8A84B"/>
            </a:solidFill>
            <a:ln w="25400" cap="sq">
              <a:solidFill>
                <a:srgbClr val="C8A84B"/>
              </a:solidFill>
              <a:prstDash val="solid"/>
              <a:miter/>
            </a:ln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10195753" y="8022330"/>
            <a:ext cx="13176652" cy="5533087"/>
          </a:xfrm>
          <a:custGeom>
            <a:avLst/>
            <a:gdLst/>
            <a:ahLst/>
            <a:cxnLst/>
            <a:rect r="r" b="b" t="t" l="l"/>
            <a:pathLst>
              <a:path h="5533087" w="13176652">
                <a:moveTo>
                  <a:pt x="0" y="0"/>
                </a:moveTo>
                <a:lnTo>
                  <a:pt x="13176652" y="0"/>
                </a:lnTo>
                <a:lnTo>
                  <a:pt x="13176652" y="5533087"/>
                </a:lnTo>
                <a:lnTo>
                  <a:pt x="0" y="553308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39000"/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2752262" y="4728798"/>
            <a:ext cx="10768818" cy="5870851"/>
          </a:xfrm>
          <a:custGeom>
            <a:avLst/>
            <a:gdLst/>
            <a:ahLst/>
            <a:cxnLst/>
            <a:rect r="r" b="b" t="t" l="l"/>
            <a:pathLst>
              <a:path h="5870851" w="10768818">
                <a:moveTo>
                  <a:pt x="0" y="0"/>
                </a:moveTo>
                <a:lnTo>
                  <a:pt x="10768818" y="0"/>
                </a:lnTo>
                <a:lnTo>
                  <a:pt x="10768818" y="5870851"/>
                </a:lnTo>
                <a:lnTo>
                  <a:pt x="0" y="587085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5000"/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2910255" y="5541254"/>
            <a:ext cx="15219856" cy="7609928"/>
          </a:xfrm>
          <a:custGeom>
            <a:avLst/>
            <a:gdLst/>
            <a:ahLst/>
            <a:cxnLst/>
            <a:rect r="r" b="b" t="t" l="l"/>
            <a:pathLst>
              <a:path h="7609928" w="15219856">
                <a:moveTo>
                  <a:pt x="0" y="0"/>
                </a:moveTo>
                <a:lnTo>
                  <a:pt x="15219856" y="0"/>
                </a:lnTo>
                <a:lnTo>
                  <a:pt x="15219856" y="7609928"/>
                </a:lnTo>
                <a:lnTo>
                  <a:pt x="0" y="760992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true" rot="0">
            <a:off x="10876351" y="-2582183"/>
            <a:ext cx="10768818" cy="5870851"/>
          </a:xfrm>
          <a:custGeom>
            <a:avLst/>
            <a:gdLst/>
            <a:ahLst/>
            <a:cxnLst/>
            <a:rect r="r" b="b" t="t" l="l"/>
            <a:pathLst>
              <a:path h="5870851" w="10768818">
                <a:moveTo>
                  <a:pt x="10768818" y="5870851"/>
                </a:moveTo>
                <a:lnTo>
                  <a:pt x="0" y="5870851"/>
                </a:lnTo>
                <a:lnTo>
                  <a:pt x="0" y="0"/>
                </a:lnTo>
                <a:lnTo>
                  <a:pt x="10768818" y="0"/>
                </a:lnTo>
                <a:lnTo>
                  <a:pt x="10768818" y="5870851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2603587" y="-361205"/>
            <a:ext cx="10768818" cy="5870851"/>
          </a:xfrm>
          <a:custGeom>
            <a:avLst/>
            <a:gdLst/>
            <a:ahLst/>
            <a:cxnLst/>
            <a:rect r="r" b="b" t="t" l="l"/>
            <a:pathLst>
              <a:path h="5870851" w="10768818">
                <a:moveTo>
                  <a:pt x="0" y="0"/>
                </a:moveTo>
                <a:lnTo>
                  <a:pt x="10768818" y="0"/>
                </a:lnTo>
                <a:lnTo>
                  <a:pt x="10768818" y="5870851"/>
                </a:lnTo>
                <a:lnTo>
                  <a:pt x="0" y="587085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-804525" y="-2327573"/>
            <a:ext cx="11206287" cy="4783171"/>
          </a:xfrm>
          <a:custGeom>
            <a:avLst/>
            <a:gdLst/>
            <a:ahLst/>
            <a:cxnLst/>
            <a:rect r="r" b="b" t="t" l="l"/>
            <a:pathLst>
              <a:path h="4783171" w="11206287">
                <a:moveTo>
                  <a:pt x="0" y="0"/>
                </a:moveTo>
                <a:lnTo>
                  <a:pt x="11206287" y="0"/>
                </a:lnTo>
                <a:lnTo>
                  <a:pt x="11206287" y="4783171"/>
                </a:lnTo>
                <a:lnTo>
                  <a:pt x="0" y="478317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54000"/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-1906261" y="140722"/>
            <a:ext cx="5300301" cy="5300301"/>
          </a:xfrm>
          <a:custGeom>
            <a:avLst/>
            <a:gdLst/>
            <a:ahLst/>
            <a:cxnLst/>
            <a:rect r="r" b="b" t="t" l="l"/>
            <a:pathLst>
              <a:path h="5300301" w="5300301">
                <a:moveTo>
                  <a:pt x="0" y="0"/>
                </a:moveTo>
                <a:lnTo>
                  <a:pt x="5300302" y="0"/>
                </a:lnTo>
                <a:lnTo>
                  <a:pt x="5300302" y="5300302"/>
                </a:lnTo>
                <a:lnTo>
                  <a:pt x="0" y="53003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4000"/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true" flipV="false" rot="0">
            <a:off x="7841288" y="7794498"/>
            <a:ext cx="4058618" cy="4058618"/>
          </a:xfrm>
          <a:custGeom>
            <a:avLst/>
            <a:gdLst/>
            <a:ahLst/>
            <a:cxnLst/>
            <a:rect r="r" b="b" t="t" l="l"/>
            <a:pathLst>
              <a:path h="4058618" w="4058618">
                <a:moveTo>
                  <a:pt x="4058618" y="0"/>
                </a:moveTo>
                <a:lnTo>
                  <a:pt x="0" y="0"/>
                </a:lnTo>
                <a:lnTo>
                  <a:pt x="0" y="4058618"/>
                </a:lnTo>
                <a:lnTo>
                  <a:pt x="4058618" y="4058618"/>
                </a:lnTo>
                <a:lnTo>
                  <a:pt x="4058618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true" rot="0">
            <a:off x="5503426" y="8211514"/>
            <a:ext cx="5300301" cy="5300301"/>
          </a:xfrm>
          <a:custGeom>
            <a:avLst/>
            <a:gdLst/>
            <a:ahLst/>
            <a:cxnLst/>
            <a:rect r="r" b="b" t="t" l="l"/>
            <a:pathLst>
              <a:path h="5300301" w="5300301">
                <a:moveTo>
                  <a:pt x="0" y="5300302"/>
                </a:moveTo>
                <a:lnTo>
                  <a:pt x="5300301" y="5300302"/>
                </a:lnTo>
                <a:lnTo>
                  <a:pt x="5300301" y="0"/>
                </a:lnTo>
                <a:lnTo>
                  <a:pt x="0" y="0"/>
                </a:lnTo>
                <a:lnTo>
                  <a:pt x="0" y="5300302"/>
                </a:lnTo>
                <a:close/>
              </a:path>
            </a:pathLst>
          </a:custGeom>
          <a:blipFill>
            <a:blip r:embed="rId6">
              <a:alphaModFix amt="54000"/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186703" y="-1786336"/>
            <a:ext cx="6014464" cy="6014464"/>
          </a:xfrm>
          <a:custGeom>
            <a:avLst/>
            <a:gdLst/>
            <a:ahLst/>
            <a:cxnLst/>
            <a:rect r="r" b="b" t="t" l="l"/>
            <a:pathLst>
              <a:path h="6014464" w="6014464">
                <a:moveTo>
                  <a:pt x="0" y="0"/>
                </a:moveTo>
                <a:lnTo>
                  <a:pt x="6014464" y="0"/>
                </a:lnTo>
                <a:lnTo>
                  <a:pt x="6014464" y="6014465"/>
                </a:lnTo>
                <a:lnTo>
                  <a:pt x="0" y="601446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54000"/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-2567012" y="-477392"/>
            <a:ext cx="9321839" cy="5620892"/>
          </a:xfrm>
          <a:custGeom>
            <a:avLst/>
            <a:gdLst/>
            <a:ahLst/>
            <a:cxnLst/>
            <a:rect r="r" b="b" t="t" l="l"/>
            <a:pathLst>
              <a:path h="5620892" w="9321839">
                <a:moveTo>
                  <a:pt x="0" y="0"/>
                </a:moveTo>
                <a:lnTo>
                  <a:pt x="9321839" y="0"/>
                </a:lnTo>
                <a:lnTo>
                  <a:pt x="9321839" y="5620892"/>
                </a:lnTo>
                <a:lnTo>
                  <a:pt x="0" y="562089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54000"/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-6023870" y="-2808658"/>
            <a:ext cx="10768818" cy="5870851"/>
          </a:xfrm>
          <a:custGeom>
            <a:avLst/>
            <a:gdLst/>
            <a:ahLst/>
            <a:cxnLst/>
            <a:rect r="r" b="b" t="t" l="l"/>
            <a:pathLst>
              <a:path h="5870851" w="10768818">
                <a:moveTo>
                  <a:pt x="0" y="0"/>
                </a:moveTo>
                <a:lnTo>
                  <a:pt x="10768817" y="0"/>
                </a:lnTo>
                <a:lnTo>
                  <a:pt x="10768817" y="5870851"/>
                </a:lnTo>
                <a:lnTo>
                  <a:pt x="0" y="587085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4000"/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true" rot="0">
            <a:off x="4971535" y="8211514"/>
            <a:ext cx="13016461" cy="5343903"/>
          </a:xfrm>
          <a:custGeom>
            <a:avLst/>
            <a:gdLst/>
            <a:ahLst/>
            <a:cxnLst/>
            <a:rect r="r" b="b" t="t" l="l"/>
            <a:pathLst>
              <a:path h="5343903" w="13016461">
                <a:moveTo>
                  <a:pt x="0" y="5343903"/>
                </a:moveTo>
                <a:lnTo>
                  <a:pt x="13016461" y="5343903"/>
                </a:lnTo>
                <a:lnTo>
                  <a:pt x="13016461" y="0"/>
                </a:lnTo>
                <a:lnTo>
                  <a:pt x="0" y="0"/>
                </a:lnTo>
                <a:lnTo>
                  <a:pt x="0" y="5343903"/>
                </a:lnTo>
                <a:close/>
              </a:path>
            </a:pathLst>
          </a:custGeom>
          <a:blipFill>
            <a:blip r:embed="rId13"/>
            <a:stretch>
              <a:fillRect l="0" t="-8875" r="0" b="-8875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-1794234" y="7784973"/>
            <a:ext cx="9527817" cy="5629352"/>
          </a:xfrm>
          <a:custGeom>
            <a:avLst/>
            <a:gdLst/>
            <a:ahLst/>
            <a:cxnLst/>
            <a:rect r="r" b="b" t="t" l="l"/>
            <a:pathLst>
              <a:path h="5629352" w="9527817">
                <a:moveTo>
                  <a:pt x="0" y="0"/>
                </a:moveTo>
                <a:lnTo>
                  <a:pt x="9527817" y="0"/>
                </a:lnTo>
                <a:lnTo>
                  <a:pt x="9527817" y="5629352"/>
                </a:lnTo>
                <a:lnTo>
                  <a:pt x="0" y="562935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54000"/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-6852673" y="-681689"/>
            <a:ext cx="10768818" cy="5870851"/>
          </a:xfrm>
          <a:custGeom>
            <a:avLst/>
            <a:gdLst/>
            <a:ahLst/>
            <a:cxnLst/>
            <a:rect r="r" b="b" t="t" l="l"/>
            <a:pathLst>
              <a:path h="5870851" w="10768818">
                <a:moveTo>
                  <a:pt x="0" y="0"/>
                </a:moveTo>
                <a:lnTo>
                  <a:pt x="10768818" y="0"/>
                </a:lnTo>
                <a:lnTo>
                  <a:pt x="10768818" y="5870851"/>
                </a:lnTo>
                <a:lnTo>
                  <a:pt x="0" y="587085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4000"/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4814623" y="1914122"/>
            <a:ext cx="10768818" cy="5870851"/>
          </a:xfrm>
          <a:custGeom>
            <a:avLst/>
            <a:gdLst/>
            <a:ahLst/>
            <a:cxnLst/>
            <a:rect r="r" b="b" t="t" l="l"/>
            <a:pathLst>
              <a:path h="5870851" w="10768818">
                <a:moveTo>
                  <a:pt x="0" y="0"/>
                </a:moveTo>
                <a:lnTo>
                  <a:pt x="10768818" y="0"/>
                </a:lnTo>
                <a:lnTo>
                  <a:pt x="10768818" y="5870851"/>
                </a:lnTo>
                <a:lnTo>
                  <a:pt x="0" y="587085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-804525" y="-3537797"/>
            <a:ext cx="10768818" cy="5870851"/>
          </a:xfrm>
          <a:custGeom>
            <a:avLst/>
            <a:gdLst/>
            <a:ahLst/>
            <a:cxnLst/>
            <a:rect r="r" b="b" t="t" l="l"/>
            <a:pathLst>
              <a:path h="5870851" w="10768818">
                <a:moveTo>
                  <a:pt x="0" y="0"/>
                </a:moveTo>
                <a:lnTo>
                  <a:pt x="10768818" y="0"/>
                </a:lnTo>
                <a:lnTo>
                  <a:pt x="10768818" y="5870851"/>
                </a:lnTo>
                <a:lnTo>
                  <a:pt x="0" y="587085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4004931" y="2455784"/>
            <a:ext cx="10768818" cy="5870851"/>
          </a:xfrm>
          <a:custGeom>
            <a:avLst/>
            <a:gdLst/>
            <a:ahLst/>
            <a:cxnLst/>
            <a:rect r="r" b="b" t="t" l="l"/>
            <a:pathLst>
              <a:path h="5870851" w="10768818">
                <a:moveTo>
                  <a:pt x="0" y="0"/>
                </a:moveTo>
                <a:lnTo>
                  <a:pt x="10768818" y="0"/>
                </a:lnTo>
                <a:lnTo>
                  <a:pt x="10768818" y="5870851"/>
                </a:lnTo>
                <a:lnTo>
                  <a:pt x="0" y="587085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5400000">
            <a:off x="-7294933" y="4679776"/>
            <a:ext cx="15219856" cy="7609928"/>
          </a:xfrm>
          <a:custGeom>
            <a:avLst/>
            <a:gdLst/>
            <a:ahLst/>
            <a:cxnLst/>
            <a:rect r="r" b="b" t="t" l="l"/>
            <a:pathLst>
              <a:path h="7609928" w="15219856">
                <a:moveTo>
                  <a:pt x="0" y="0"/>
                </a:moveTo>
                <a:lnTo>
                  <a:pt x="15219856" y="0"/>
                </a:lnTo>
                <a:lnTo>
                  <a:pt x="15219856" y="7609928"/>
                </a:lnTo>
                <a:lnTo>
                  <a:pt x="0" y="760992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54000"/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-3632380" y="5143500"/>
            <a:ext cx="10768818" cy="5870851"/>
          </a:xfrm>
          <a:custGeom>
            <a:avLst/>
            <a:gdLst/>
            <a:ahLst/>
            <a:cxnLst/>
            <a:rect r="r" b="b" t="t" l="l"/>
            <a:pathLst>
              <a:path h="5870851" w="10768818">
                <a:moveTo>
                  <a:pt x="0" y="0"/>
                </a:moveTo>
                <a:lnTo>
                  <a:pt x="10768818" y="0"/>
                </a:lnTo>
                <a:lnTo>
                  <a:pt x="10768818" y="5870851"/>
                </a:lnTo>
                <a:lnTo>
                  <a:pt x="0" y="587085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4000"/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3528697" y="-3244744"/>
            <a:ext cx="10768818" cy="5870851"/>
          </a:xfrm>
          <a:custGeom>
            <a:avLst/>
            <a:gdLst/>
            <a:ahLst/>
            <a:cxnLst/>
            <a:rect r="r" b="b" t="t" l="l"/>
            <a:pathLst>
              <a:path h="5870851" w="10768818">
                <a:moveTo>
                  <a:pt x="0" y="0"/>
                </a:moveTo>
                <a:lnTo>
                  <a:pt x="10768818" y="0"/>
                </a:lnTo>
                <a:lnTo>
                  <a:pt x="10768818" y="5870851"/>
                </a:lnTo>
                <a:lnTo>
                  <a:pt x="0" y="587085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-6553297">
            <a:off x="13592217" y="5086905"/>
            <a:ext cx="10768818" cy="5870851"/>
          </a:xfrm>
          <a:custGeom>
            <a:avLst/>
            <a:gdLst/>
            <a:ahLst/>
            <a:cxnLst/>
            <a:rect r="r" b="b" t="t" l="l"/>
            <a:pathLst>
              <a:path h="5870851" w="10768818">
                <a:moveTo>
                  <a:pt x="0" y="0"/>
                </a:moveTo>
                <a:lnTo>
                  <a:pt x="10768818" y="0"/>
                </a:lnTo>
                <a:lnTo>
                  <a:pt x="10768818" y="5870850"/>
                </a:lnTo>
                <a:lnTo>
                  <a:pt x="0" y="58708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-7820125">
            <a:off x="-4662516" y="4615641"/>
            <a:ext cx="10768818" cy="5870851"/>
          </a:xfrm>
          <a:custGeom>
            <a:avLst/>
            <a:gdLst/>
            <a:ahLst/>
            <a:cxnLst/>
            <a:rect r="r" b="b" t="t" l="l"/>
            <a:pathLst>
              <a:path h="5870851" w="10768818">
                <a:moveTo>
                  <a:pt x="0" y="0"/>
                </a:moveTo>
                <a:lnTo>
                  <a:pt x="10768818" y="0"/>
                </a:lnTo>
                <a:lnTo>
                  <a:pt x="10768818" y="5870851"/>
                </a:lnTo>
                <a:lnTo>
                  <a:pt x="0" y="587085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4000"/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-9191396">
            <a:off x="6252453" y="-4032636"/>
            <a:ext cx="10768818" cy="5870851"/>
          </a:xfrm>
          <a:custGeom>
            <a:avLst/>
            <a:gdLst/>
            <a:ahLst/>
            <a:cxnLst/>
            <a:rect r="r" b="b" t="t" l="l"/>
            <a:pathLst>
              <a:path h="5870851" w="10768818">
                <a:moveTo>
                  <a:pt x="0" y="0"/>
                </a:moveTo>
                <a:lnTo>
                  <a:pt x="10768818" y="0"/>
                </a:lnTo>
                <a:lnTo>
                  <a:pt x="10768818" y="5870851"/>
                </a:lnTo>
                <a:lnTo>
                  <a:pt x="0" y="587085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5000"/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-9191396">
            <a:off x="-5069413" y="-2794703"/>
            <a:ext cx="10768818" cy="5870851"/>
          </a:xfrm>
          <a:custGeom>
            <a:avLst/>
            <a:gdLst/>
            <a:ahLst/>
            <a:cxnLst/>
            <a:rect r="r" b="b" t="t" l="l"/>
            <a:pathLst>
              <a:path h="5870851" w="10768818">
                <a:moveTo>
                  <a:pt x="0" y="0"/>
                </a:moveTo>
                <a:lnTo>
                  <a:pt x="10768817" y="0"/>
                </a:lnTo>
                <a:lnTo>
                  <a:pt x="10768817" y="5870851"/>
                </a:lnTo>
                <a:lnTo>
                  <a:pt x="0" y="587085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-4627258" y="7151782"/>
            <a:ext cx="13176652" cy="5533087"/>
          </a:xfrm>
          <a:custGeom>
            <a:avLst/>
            <a:gdLst/>
            <a:ahLst/>
            <a:cxnLst/>
            <a:rect r="r" b="b" t="t" l="l"/>
            <a:pathLst>
              <a:path h="5533087" w="13176652">
                <a:moveTo>
                  <a:pt x="0" y="0"/>
                </a:moveTo>
                <a:lnTo>
                  <a:pt x="13176652" y="0"/>
                </a:lnTo>
                <a:lnTo>
                  <a:pt x="13176652" y="5533087"/>
                </a:lnTo>
                <a:lnTo>
                  <a:pt x="0" y="55330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-4093272" y="7120622"/>
            <a:ext cx="10768818" cy="5870851"/>
          </a:xfrm>
          <a:custGeom>
            <a:avLst/>
            <a:gdLst/>
            <a:ahLst/>
            <a:cxnLst/>
            <a:rect r="r" b="b" t="t" l="l"/>
            <a:pathLst>
              <a:path h="5870851" w="10768818">
                <a:moveTo>
                  <a:pt x="0" y="0"/>
                </a:moveTo>
                <a:lnTo>
                  <a:pt x="10768818" y="0"/>
                </a:lnTo>
                <a:lnTo>
                  <a:pt x="10768818" y="5870851"/>
                </a:lnTo>
                <a:lnTo>
                  <a:pt x="0" y="587085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4000"/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908913" y="-3681410"/>
            <a:ext cx="6014464" cy="6014464"/>
          </a:xfrm>
          <a:custGeom>
            <a:avLst/>
            <a:gdLst/>
            <a:ahLst/>
            <a:cxnLst/>
            <a:rect r="r" b="b" t="t" l="l"/>
            <a:pathLst>
              <a:path h="6014464" w="6014464">
                <a:moveTo>
                  <a:pt x="0" y="0"/>
                </a:moveTo>
                <a:lnTo>
                  <a:pt x="6014464" y="0"/>
                </a:lnTo>
                <a:lnTo>
                  <a:pt x="6014464" y="6014464"/>
                </a:lnTo>
                <a:lnTo>
                  <a:pt x="0" y="601446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54000"/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9465806" y="-3244744"/>
            <a:ext cx="12179363" cy="7195973"/>
          </a:xfrm>
          <a:custGeom>
            <a:avLst/>
            <a:gdLst/>
            <a:ahLst/>
            <a:cxnLst/>
            <a:rect r="r" b="b" t="t" l="l"/>
            <a:pathLst>
              <a:path h="7195973" w="12179363">
                <a:moveTo>
                  <a:pt x="0" y="0"/>
                </a:moveTo>
                <a:lnTo>
                  <a:pt x="12179363" y="0"/>
                </a:lnTo>
                <a:lnTo>
                  <a:pt x="12179363" y="7195973"/>
                </a:lnTo>
                <a:lnTo>
                  <a:pt x="0" y="719597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alphaModFix amt="57000"/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-7929911" y="7370599"/>
            <a:ext cx="13176652" cy="5533087"/>
          </a:xfrm>
          <a:custGeom>
            <a:avLst/>
            <a:gdLst/>
            <a:ahLst/>
            <a:cxnLst/>
            <a:rect r="r" b="b" t="t" l="l"/>
            <a:pathLst>
              <a:path h="5533087" w="13176652">
                <a:moveTo>
                  <a:pt x="0" y="0"/>
                </a:moveTo>
                <a:lnTo>
                  <a:pt x="13176652" y="0"/>
                </a:lnTo>
                <a:lnTo>
                  <a:pt x="13176652" y="5533088"/>
                </a:lnTo>
                <a:lnTo>
                  <a:pt x="0" y="553308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-1468264" y="6814019"/>
            <a:ext cx="10768818" cy="5870851"/>
          </a:xfrm>
          <a:custGeom>
            <a:avLst/>
            <a:gdLst/>
            <a:ahLst/>
            <a:cxnLst/>
            <a:rect r="r" b="b" t="t" l="l"/>
            <a:pathLst>
              <a:path h="5870851" w="10768818">
                <a:moveTo>
                  <a:pt x="0" y="0"/>
                </a:moveTo>
                <a:lnTo>
                  <a:pt x="10768818" y="0"/>
                </a:lnTo>
                <a:lnTo>
                  <a:pt x="10768818" y="5870850"/>
                </a:lnTo>
                <a:lnTo>
                  <a:pt x="0" y="58708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5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DAHOo3mRkcQ</dc:identifier>
  <dcterms:modified xsi:type="dcterms:W3CDTF">2011-08-01T06:04:30Z</dcterms:modified>
  <cp:revision>1</cp:revision>
  <dc:title>RL - TPF.pptx</dc:title>
</cp:coreProperties>
</file>